
<file path=[Content_Types].xml><?xml version="1.0" encoding="utf-8"?>
<Types xmlns="http://schemas.openxmlformats.org/package/2006/content-types">
  <Default Extension="jpeg" ContentType="image/jpeg"/>
  <Default Extension="png" ContentType="image/png"/>
  <Default Extension="ppm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5" r:id="rId2"/>
  </p:sldMasterIdLst>
  <p:sldIdLst>
    <p:sldId id="256" r:id="rId3"/>
    <p:sldId id="257" r:id="rId4"/>
    <p:sldId id="258" r:id="rId5"/>
    <p:sldId id="259" r:id="rId6"/>
    <p:sldId id="260" r:id="rId7"/>
    <p:sldId id="268" r:id="rId8"/>
    <p:sldId id="269" r:id="rId9"/>
    <p:sldId id="270" r:id="rId10"/>
    <p:sldId id="271" r:id="rId11"/>
    <p:sldId id="262" r:id="rId12"/>
    <p:sldId id="272" r:id="rId13"/>
    <p:sldId id="266" r:id="rId14"/>
    <p:sldId id="273" r:id="rId15"/>
    <p:sldId id="265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77"/>
    <p:restoredTop sz="94545"/>
  </p:normalViewPr>
  <p:slideViewPr>
    <p:cSldViewPr snapToGrid="0">
      <p:cViewPr varScale="1">
        <p:scale>
          <a:sx n="58" d="100"/>
          <a:sy n="58" d="100"/>
        </p:scale>
        <p:origin x="232" y="2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E6AC7D-8714-4369-8305-46B7001CD98F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286ACDB-D925-49A7-A454-5F3059FB1CC1}">
      <dgm:prSet/>
      <dgm:spPr/>
      <dgm:t>
        <a:bodyPr/>
        <a:lstStyle/>
        <a:p>
          <a:r>
            <a:rPr lang="en-US" dirty="0"/>
            <a:t>Input Layer | Input Standardization; Flatten 1D; 784 Features</a:t>
          </a:r>
        </a:p>
      </dgm:t>
    </dgm:pt>
    <dgm:pt modelId="{FF6EEBD4-78BA-45C9-B68E-53C17AEDF99E}" type="parTrans" cxnId="{C88B25FB-412F-437C-BA9B-ACAD0FBEA8D6}">
      <dgm:prSet/>
      <dgm:spPr/>
      <dgm:t>
        <a:bodyPr/>
        <a:lstStyle/>
        <a:p>
          <a:endParaRPr lang="en-US"/>
        </a:p>
      </dgm:t>
    </dgm:pt>
    <dgm:pt modelId="{18EE2AEF-8D98-400E-8737-9F186A74D7F8}" type="sibTrans" cxnId="{C88B25FB-412F-437C-BA9B-ACAD0FBEA8D6}">
      <dgm:prSet/>
      <dgm:spPr/>
      <dgm:t>
        <a:bodyPr/>
        <a:lstStyle/>
        <a:p>
          <a:endParaRPr lang="en-US"/>
        </a:p>
      </dgm:t>
    </dgm:pt>
    <dgm:pt modelId="{456C68F2-98FB-428D-8002-B1D422346DBA}">
      <dgm:prSet/>
      <dgm:spPr/>
      <dgm:t>
        <a:bodyPr/>
        <a:lstStyle/>
        <a:p>
          <a:r>
            <a:rPr lang="en-US" dirty="0"/>
            <a:t>H1 | 128 Neurons; He Init; </a:t>
          </a:r>
          <a:r>
            <a:rPr lang="en-US" dirty="0" err="1"/>
            <a:t>BatchNorm</a:t>
          </a:r>
          <a:r>
            <a:rPr lang="en-US" dirty="0"/>
            <a:t>; </a:t>
          </a:r>
          <a:r>
            <a:rPr lang="en-US" dirty="0" err="1"/>
            <a:t>ReLU</a:t>
          </a:r>
          <a:r>
            <a:rPr lang="en-US" dirty="0"/>
            <a:t>; Dropout </a:t>
          </a:r>
        </a:p>
      </dgm:t>
    </dgm:pt>
    <dgm:pt modelId="{7C4DC22B-5CAC-4378-934B-8CD23A9DEC6B}" type="parTrans" cxnId="{C010056D-121C-4E0C-B3A9-77E26FA62751}">
      <dgm:prSet/>
      <dgm:spPr/>
      <dgm:t>
        <a:bodyPr/>
        <a:lstStyle/>
        <a:p>
          <a:endParaRPr lang="en-US"/>
        </a:p>
      </dgm:t>
    </dgm:pt>
    <dgm:pt modelId="{EE8938A6-3990-47A3-9DA1-D1EB9EF14A5E}" type="sibTrans" cxnId="{C010056D-121C-4E0C-B3A9-77E26FA62751}">
      <dgm:prSet/>
      <dgm:spPr/>
      <dgm:t>
        <a:bodyPr/>
        <a:lstStyle/>
        <a:p>
          <a:endParaRPr lang="en-US"/>
        </a:p>
      </dgm:t>
    </dgm:pt>
    <dgm:pt modelId="{1B298C55-3B96-4506-BD90-F086FB84D489}">
      <dgm:prSet/>
      <dgm:spPr/>
      <dgm:t>
        <a:bodyPr/>
        <a:lstStyle/>
        <a:p>
          <a:r>
            <a:rPr lang="en-US" dirty="0"/>
            <a:t>H2 | 64 Neurons; He Init; </a:t>
          </a:r>
          <a:r>
            <a:rPr lang="en-US" dirty="0" err="1"/>
            <a:t>BatchNorm</a:t>
          </a:r>
          <a:r>
            <a:rPr lang="en-US" dirty="0"/>
            <a:t>; </a:t>
          </a:r>
          <a:r>
            <a:rPr lang="en-US" dirty="0" err="1"/>
            <a:t>ReLU</a:t>
          </a:r>
          <a:r>
            <a:rPr lang="en-US" dirty="0"/>
            <a:t>; Dropout</a:t>
          </a:r>
        </a:p>
      </dgm:t>
    </dgm:pt>
    <dgm:pt modelId="{598AAC6A-ED36-45ED-B939-99313A1746F8}" type="parTrans" cxnId="{195E2F34-5BD8-404D-A95D-6F16ED5B10E1}">
      <dgm:prSet/>
      <dgm:spPr/>
      <dgm:t>
        <a:bodyPr/>
        <a:lstStyle/>
        <a:p>
          <a:endParaRPr lang="en-US"/>
        </a:p>
      </dgm:t>
    </dgm:pt>
    <dgm:pt modelId="{C9B3C1E8-8A3A-4875-AA05-C6AFE8888454}" type="sibTrans" cxnId="{195E2F34-5BD8-404D-A95D-6F16ED5B10E1}">
      <dgm:prSet/>
      <dgm:spPr/>
      <dgm:t>
        <a:bodyPr/>
        <a:lstStyle/>
        <a:p>
          <a:endParaRPr lang="en-US"/>
        </a:p>
      </dgm:t>
    </dgm:pt>
    <dgm:pt modelId="{312950B6-BBD6-43C4-863B-1A6EAE852BB3}">
      <dgm:prSet/>
      <dgm:spPr/>
      <dgm:t>
        <a:bodyPr/>
        <a:lstStyle/>
        <a:p>
          <a:r>
            <a:rPr lang="en-US" dirty="0"/>
            <a:t>Output | Xavier Init; 10 Neurons</a:t>
          </a:r>
        </a:p>
      </dgm:t>
    </dgm:pt>
    <dgm:pt modelId="{8EED99E4-A3FA-4F4F-9749-72E2454A57F0}" type="parTrans" cxnId="{756F0D66-432B-404A-B3C2-58FC6DED035F}">
      <dgm:prSet/>
      <dgm:spPr/>
      <dgm:t>
        <a:bodyPr/>
        <a:lstStyle/>
        <a:p>
          <a:endParaRPr lang="en-US"/>
        </a:p>
      </dgm:t>
    </dgm:pt>
    <dgm:pt modelId="{08AD9AA3-AE43-44D8-86B7-66CB0625B0DF}" type="sibTrans" cxnId="{756F0D66-432B-404A-B3C2-58FC6DED035F}">
      <dgm:prSet/>
      <dgm:spPr/>
      <dgm:t>
        <a:bodyPr/>
        <a:lstStyle/>
        <a:p>
          <a:endParaRPr lang="en-US"/>
        </a:p>
      </dgm:t>
    </dgm:pt>
    <dgm:pt modelId="{CA3E7420-9FE6-3047-8E32-29D6194F454E}">
      <dgm:prSet phldrT="[Text]"/>
      <dgm:spPr/>
      <dgm:t>
        <a:bodyPr/>
        <a:lstStyle/>
        <a:p>
          <a:r>
            <a:rPr lang="en-US" dirty="0"/>
            <a:t>KMNIST 28 x 28 Greyscale</a:t>
          </a:r>
        </a:p>
      </dgm:t>
    </dgm:pt>
    <dgm:pt modelId="{E22D7277-E3A3-7A41-BAC1-356AB09322A1}" type="parTrans" cxnId="{9E70BEEE-FC93-B948-A613-79C770F96BE7}">
      <dgm:prSet/>
      <dgm:spPr/>
      <dgm:t>
        <a:bodyPr/>
        <a:lstStyle/>
        <a:p>
          <a:endParaRPr lang="en-US"/>
        </a:p>
      </dgm:t>
    </dgm:pt>
    <dgm:pt modelId="{E95FDB5C-8186-444F-8CCE-A938F147200E}" type="sibTrans" cxnId="{9E70BEEE-FC93-B948-A613-79C770F96BE7}">
      <dgm:prSet/>
      <dgm:spPr/>
      <dgm:t>
        <a:bodyPr/>
        <a:lstStyle/>
        <a:p>
          <a:endParaRPr lang="en-US"/>
        </a:p>
      </dgm:t>
    </dgm:pt>
    <dgm:pt modelId="{AD8B76C2-E33B-DA47-83E3-4AB585B2163C}" type="pres">
      <dgm:prSet presAssocID="{3FE6AC7D-8714-4369-8305-46B7001CD98F}" presName="outerComposite" presStyleCnt="0">
        <dgm:presLayoutVars>
          <dgm:chMax val="5"/>
          <dgm:dir/>
          <dgm:resizeHandles val="exact"/>
        </dgm:presLayoutVars>
      </dgm:prSet>
      <dgm:spPr/>
    </dgm:pt>
    <dgm:pt modelId="{008DE71F-7388-914F-8DD5-17946D43DFEE}" type="pres">
      <dgm:prSet presAssocID="{3FE6AC7D-8714-4369-8305-46B7001CD98F}" presName="dummyMaxCanvas" presStyleCnt="0">
        <dgm:presLayoutVars/>
      </dgm:prSet>
      <dgm:spPr/>
    </dgm:pt>
    <dgm:pt modelId="{E62BFF26-C860-4D48-BB9D-B52E91E98060}" type="pres">
      <dgm:prSet presAssocID="{3FE6AC7D-8714-4369-8305-46B7001CD98F}" presName="FiveNodes_1" presStyleLbl="node1" presStyleIdx="0" presStyleCnt="5">
        <dgm:presLayoutVars>
          <dgm:bulletEnabled val="1"/>
        </dgm:presLayoutVars>
      </dgm:prSet>
      <dgm:spPr/>
    </dgm:pt>
    <dgm:pt modelId="{AB60D780-8C19-F546-BB17-24E33CF94062}" type="pres">
      <dgm:prSet presAssocID="{3FE6AC7D-8714-4369-8305-46B7001CD98F}" presName="FiveNodes_2" presStyleLbl="node1" presStyleIdx="1" presStyleCnt="5">
        <dgm:presLayoutVars>
          <dgm:bulletEnabled val="1"/>
        </dgm:presLayoutVars>
      </dgm:prSet>
      <dgm:spPr/>
    </dgm:pt>
    <dgm:pt modelId="{A9EDC521-DCD8-D042-940E-5EDCF61ACA47}" type="pres">
      <dgm:prSet presAssocID="{3FE6AC7D-8714-4369-8305-46B7001CD98F}" presName="FiveNodes_3" presStyleLbl="node1" presStyleIdx="2" presStyleCnt="5">
        <dgm:presLayoutVars>
          <dgm:bulletEnabled val="1"/>
        </dgm:presLayoutVars>
      </dgm:prSet>
      <dgm:spPr/>
    </dgm:pt>
    <dgm:pt modelId="{189D9E23-AE2F-E44D-818A-D6BF73748A5E}" type="pres">
      <dgm:prSet presAssocID="{3FE6AC7D-8714-4369-8305-46B7001CD98F}" presName="FiveNodes_4" presStyleLbl="node1" presStyleIdx="3" presStyleCnt="5">
        <dgm:presLayoutVars>
          <dgm:bulletEnabled val="1"/>
        </dgm:presLayoutVars>
      </dgm:prSet>
      <dgm:spPr/>
    </dgm:pt>
    <dgm:pt modelId="{B568F17D-C5C8-C745-928E-84CEB6BBA184}" type="pres">
      <dgm:prSet presAssocID="{3FE6AC7D-8714-4369-8305-46B7001CD98F}" presName="FiveNodes_5" presStyleLbl="node1" presStyleIdx="4" presStyleCnt="5">
        <dgm:presLayoutVars>
          <dgm:bulletEnabled val="1"/>
        </dgm:presLayoutVars>
      </dgm:prSet>
      <dgm:spPr/>
    </dgm:pt>
    <dgm:pt modelId="{99C2F6A9-8D7D-1843-A620-B2EB78EE50A9}" type="pres">
      <dgm:prSet presAssocID="{3FE6AC7D-8714-4369-8305-46B7001CD98F}" presName="FiveConn_1-2" presStyleLbl="fgAccFollowNode1" presStyleIdx="0" presStyleCnt="4">
        <dgm:presLayoutVars>
          <dgm:bulletEnabled val="1"/>
        </dgm:presLayoutVars>
      </dgm:prSet>
      <dgm:spPr/>
    </dgm:pt>
    <dgm:pt modelId="{64416C55-B22C-104D-9BEC-FE61F492FDDC}" type="pres">
      <dgm:prSet presAssocID="{3FE6AC7D-8714-4369-8305-46B7001CD98F}" presName="FiveConn_2-3" presStyleLbl="fgAccFollowNode1" presStyleIdx="1" presStyleCnt="4">
        <dgm:presLayoutVars>
          <dgm:bulletEnabled val="1"/>
        </dgm:presLayoutVars>
      </dgm:prSet>
      <dgm:spPr/>
    </dgm:pt>
    <dgm:pt modelId="{1CE69375-3F43-DE41-BB30-50E09B5B879F}" type="pres">
      <dgm:prSet presAssocID="{3FE6AC7D-8714-4369-8305-46B7001CD98F}" presName="FiveConn_3-4" presStyleLbl="fgAccFollowNode1" presStyleIdx="2" presStyleCnt="4">
        <dgm:presLayoutVars>
          <dgm:bulletEnabled val="1"/>
        </dgm:presLayoutVars>
      </dgm:prSet>
      <dgm:spPr/>
    </dgm:pt>
    <dgm:pt modelId="{3FED3658-7B67-A840-8DBF-DCC95B12885A}" type="pres">
      <dgm:prSet presAssocID="{3FE6AC7D-8714-4369-8305-46B7001CD98F}" presName="FiveConn_4-5" presStyleLbl="fgAccFollowNode1" presStyleIdx="3" presStyleCnt="4">
        <dgm:presLayoutVars>
          <dgm:bulletEnabled val="1"/>
        </dgm:presLayoutVars>
      </dgm:prSet>
      <dgm:spPr/>
    </dgm:pt>
    <dgm:pt modelId="{02F59906-2C79-C74F-9C15-0E2858A6E4AB}" type="pres">
      <dgm:prSet presAssocID="{3FE6AC7D-8714-4369-8305-46B7001CD98F}" presName="FiveNodes_1_text" presStyleLbl="node1" presStyleIdx="4" presStyleCnt="5">
        <dgm:presLayoutVars>
          <dgm:bulletEnabled val="1"/>
        </dgm:presLayoutVars>
      </dgm:prSet>
      <dgm:spPr/>
    </dgm:pt>
    <dgm:pt modelId="{9B9ECF07-B347-0841-8F40-3112C307BC72}" type="pres">
      <dgm:prSet presAssocID="{3FE6AC7D-8714-4369-8305-46B7001CD98F}" presName="FiveNodes_2_text" presStyleLbl="node1" presStyleIdx="4" presStyleCnt="5">
        <dgm:presLayoutVars>
          <dgm:bulletEnabled val="1"/>
        </dgm:presLayoutVars>
      </dgm:prSet>
      <dgm:spPr/>
    </dgm:pt>
    <dgm:pt modelId="{5AEA8386-10C6-B943-A52C-71441E6ED2DA}" type="pres">
      <dgm:prSet presAssocID="{3FE6AC7D-8714-4369-8305-46B7001CD98F}" presName="FiveNodes_3_text" presStyleLbl="node1" presStyleIdx="4" presStyleCnt="5">
        <dgm:presLayoutVars>
          <dgm:bulletEnabled val="1"/>
        </dgm:presLayoutVars>
      </dgm:prSet>
      <dgm:spPr/>
    </dgm:pt>
    <dgm:pt modelId="{DACDF79A-CB62-CE4C-B3FC-67D6CF211D0B}" type="pres">
      <dgm:prSet presAssocID="{3FE6AC7D-8714-4369-8305-46B7001CD98F}" presName="FiveNodes_4_text" presStyleLbl="node1" presStyleIdx="4" presStyleCnt="5">
        <dgm:presLayoutVars>
          <dgm:bulletEnabled val="1"/>
        </dgm:presLayoutVars>
      </dgm:prSet>
      <dgm:spPr/>
    </dgm:pt>
    <dgm:pt modelId="{64588DF7-CA20-B046-BFD7-483039490ABE}" type="pres">
      <dgm:prSet presAssocID="{3FE6AC7D-8714-4369-8305-46B7001CD98F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4E44F50D-89DF-EB4F-9770-8543F3B39BF0}" type="presOf" srcId="{1B298C55-3B96-4506-BD90-F086FB84D489}" destId="{DACDF79A-CB62-CE4C-B3FC-67D6CF211D0B}" srcOrd="1" destOrd="0" presId="urn:microsoft.com/office/officeart/2005/8/layout/vProcess5"/>
    <dgm:cxn modelId="{A86E3525-CE59-7B49-8EE8-409C75521CA1}" type="presOf" srcId="{456C68F2-98FB-428D-8002-B1D422346DBA}" destId="{5AEA8386-10C6-B943-A52C-71441E6ED2DA}" srcOrd="1" destOrd="0" presId="urn:microsoft.com/office/officeart/2005/8/layout/vProcess5"/>
    <dgm:cxn modelId="{E061C629-8F00-B545-B5F5-B93E344B6F64}" type="presOf" srcId="{CA3E7420-9FE6-3047-8E32-29D6194F454E}" destId="{02F59906-2C79-C74F-9C15-0E2858A6E4AB}" srcOrd="1" destOrd="0" presId="urn:microsoft.com/office/officeart/2005/8/layout/vProcess5"/>
    <dgm:cxn modelId="{62D5EF31-E764-A84A-A59C-BB6D103777F8}" type="presOf" srcId="{3FE6AC7D-8714-4369-8305-46B7001CD98F}" destId="{AD8B76C2-E33B-DA47-83E3-4AB585B2163C}" srcOrd="0" destOrd="0" presId="urn:microsoft.com/office/officeart/2005/8/layout/vProcess5"/>
    <dgm:cxn modelId="{195E2F34-5BD8-404D-A95D-6F16ED5B10E1}" srcId="{3FE6AC7D-8714-4369-8305-46B7001CD98F}" destId="{1B298C55-3B96-4506-BD90-F086FB84D489}" srcOrd="3" destOrd="0" parTransId="{598AAC6A-ED36-45ED-B939-99313A1746F8}" sibTransId="{C9B3C1E8-8A3A-4875-AA05-C6AFE8888454}"/>
    <dgm:cxn modelId="{D7C88663-755A-4041-B586-410EBEABB0F0}" type="presOf" srcId="{456C68F2-98FB-428D-8002-B1D422346DBA}" destId="{A9EDC521-DCD8-D042-940E-5EDCF61ACA47}" srcOrd="0" destOrd="0" presId="urn:microsoft.com/office/officeart/2005/8/layout/vProcess5"/>
    <dgm:cxn modelId="{756F0D66-432B-404A-B3C2-58FC6DED035F}" srcId="{3FE6AC7D-8714-4369-8305-46B7001CD98F}" destId="{312950B6-BBD6-43C4-863B-1A6EAE852BB3}" srcOrd="4" destOrd="0" parTransId="{8EED99E4-A3FA-4F4F-9749-72E2454A57F0}" sibTransId="{08AD9AA3-AE43-44D8-86B7-66CB0625B0DF}"/>
    <dgm:cxn modelId="{F4457867-8EB5-0E4F-94DB-678880A10AFC}" type="presOf" srcId="{C9B3C1E8-8A3A-4875-AA05-C6AFE8888454}" destId="{3FED3658-7B67-A840-8DBF-DCC95B12885A}" srcOrd="0" destOrd="0" presId="urn:microsoft.com/office/officeart/2005/8/layout/vProcess5"/>
    <dgm:cxn modelId="{E2F20E6C-750D-3E44-A757-13FF40C5D488}" type="presOf" srcId="{EE8938A6-3990-47A3-9DA1-D1EB9EF14A5E}" destId="{1CE69375-3F43-DE41-BB30-50E09B5B879F}" srcOrd="0" destOrd="0" presId="urn:microsoft.com/office/officeart/2005/8/layout/vProcess5"/>
    <dgm:cxn modelId="{C010056D-121C-4E0C-B3A9-77E26FA62751}" srcId="{3FE6AC7D-8714-4369-8305-46B7001CD98F}" destId="{456C68F2-98FB-428D-8002-B1D422346DBA}" srcOrd="2" destOrd="0" parTransId="{7C4DC22B-5CAC-4378-934B-8CD23A9DEC6B}" sibTransId="{EE8938A6-3990-47A3-9DA1-D1EB9EF14A5E}"/>
    <dgm:cxn modelId="{7371B79B-5E45-5740-9698-574195E7F7A8}" type="presOf" srcId="{312950B6-BBD6-43C4-863B-1A6EAE852BB3}" destId="{64588DF7-CA20-B046-BFD7-483039490ABE}" srcOrd="1" destOrd="0" presId="urn:microsoft.com/office/officeart/2005/8/layout/vProcess5"/>
    <dgm:cxn modelId="{F4F4F9BD-5AED-C746-BFE1-FB88A1E3D0C0}" type="presOf" srcId="{E95FDB5C-8186-444F-8CCE-A938F147200E}" destId="{99C2F6A9-8D7D-1843-A620-B2EB78EE50A9}" srcOrd="0" destOrd="0" presId="urn:microsoft.com/office/officeart/2005/8/layout/vProcess5"/>
    <dgm:cxn modelId="{870902C7-3413-194B-9740-10DAC35D11D1}" type="presOf" srcId="{F286ACDB-D925-49A7-A454-5F3059FB1CC1}" destId="{9B9ECF07-B347-0841-8F40-3112C307BC72}" srcOrd="1" destOrd="0" presId="urn:microsoft.com/office/officeart/2005/8/layout/vProcess5"/>
    <dgm:cxn modelId="{57BE7EDD-EE21-C945-A888-5A31A67E04A6}" type="presOf" srcId="{18EE2AEF-8D98-400E-8737-9F186A74D7F8}" destId="{64416C55-B22C-104D-9BEC-FE61F492FDDC}" srcOrd="0" destOrd="0" presId="urn:microsoft.com/office/officeart/2005/8/layout/vProcess5"/>
    <dgm:cxn modelId="{D4AF78E2-EE16-5F4E-98DB-C89FB708329D}" type="presOf" srcId="{F286ACDB-D925-49A7-A454-5F3059FB1CC1}" destId="{AB60D780-8C19-F546-BB17-24E33CF94062}" srcOrd="0" destOrd="0" presId="urn:microsoft.com/office/officeart/2005/8/layout/vProcess5"/>
    <dgm:cxn modelId="{132F32EA-B8FA-F54E-9F81-BF616654D8B5}" type="presOf" srcId="{312950B6-BBD6-43C4-863B-1A6EAE852BB3}" destId="{B568F17D-C5C8-C745-928E-84CEB6BBA184}" srcOrd="0" destOrd="0" presId="urn:microsoft.com/office/officeart/2005/8/layout/vProcess5"/>
    <dgm:cxn modelId="{047066ED-C09C-934B-ABDD-D5106A378565}" type="presOf" srcId="{CA3E7420-9FE6-3047-8E32-29D6194F454E}" destId="{E62BFF26-C860-4D48-BB9D-B52E91E98060}" srcOrd="0" destOrd="0" presId="urn:microsoft.com/office/officeart/2005/8/layout/vProcess5"/>
    <dgm:cxn modelId="{9E70BEEE-FC93-B948-A613-79C770F96BE7}" srcId="{3FE6AC7D-8714-4369-8305-46B7001CD98F}" destId="{CA3E7420-9FE6-3047-8E32-29D6194F454E}" srcOrd="0" destOrd="0" parTransId="{E22D7277-E3A3-7A41-BAC1-356AB09322A1}" sibTransId="{E95FDB5C-8186-444F-8CCE-A938F147200E}"/>
    <dgm:cxn modelId="{053A1EEF-8631-FC48-83BF-026EB4BADE39}" type="presOf" srcId="{1B298C55-3B96-4506-BD90-F086FB84D489}" destId="{189D9E23-AE2F-E44D-818A-D6BF73748A5E}" srcOrd="0" destOrd="0" presId="urn:microsoft.com/office/officeart/2005/8/layout/vProcess5"/>
    <dgm:cxn modelId="{C88B25FB-412F-437C-BA9B-ACAD0FBEA8D6}" srcId="{3FE6AC7D-8714-4369-8305-46B7001CD98F}" destId="{F286ACDB-D925-49A7-A454-5F3059FB1CC1}" srcOrd="1" destOrd="0" parTransId="{FF6EEBD4-78BA-45C9-B68E-53C17AEDF99E}" sibTransId="{18EE2AEF-8D98-400E-8737-9F186A74D7F8}"/>
    <dgm:cxn modelId="{4D71BCF5-5BCF-4D4C-9A82-09FEC9F65C11}" type="presParOf" srcId="{AD8B76C2-E33B-DA47-83E3-4AB585B2163C}" destId="{008DE71F-7388-914F-8DD5-17946D43DFEE}" srcOrd="0" destOrd="0" presId="urn:microsoft.com/office/officeart/2005/8/layout/vProcess5"/>
    <dgm:cxn modelId="{CF1A2199-5A88-5A45-BED3-593CFB115A78}" type="presParOf" srcId="{AD8B76C2-E33B-DA47-83E3-4AB585B2163C}" destId="{E62BFF26-C860-4D48-BB9D-B52E91E98060}" srcOrd="1" destOrd="0" presId="urn:microsoft.com/office/officeart/2005/8/layout/vProcess5"/>
    <dgm:cxn modelId="{A69D9FF2-F833-EE41-AE5C-FAE1780BAE40}" type="presParOf" srcId="{AD8B76C2-E33B-DA47-83E3-4AB585B2163C}" destId="{AB60D780-8C19-F546-BB17-24E33CF94062}" srcOrd="2" destOrd="0" presId="urn:microsoft.com/office/officeart/2005/8/layout/vProcess5"/>
    <dgm:cxn modelId="{678BA83B-AB85-304F-AA18-0A9050E1894F}" type="presParOf" srcId="{AD8B76C2-E33B-DA47-83E3-4AB585B2163C}" destId="{A9EDC521-DCD8-D042-940E-5EDCF61ACA47}" srcOrd="3" destOrd="0" presId="urn:microsoft.com/office/officeart/2005/8/layout/vProcess5"/>
    <dgm:cxn modelId="{77EE8525-5F8D-8540-8797-737F64F4CC82}" type="presParOf" srcId="{AD8B76C2-E33B-DA47-83E3-4AB585B2163C}" destId="{189D9E23-AE2F-E44D-818A-D6BF73748A5E}" srcOrd="4" destOrd="0" presId="urn:microsoft.com/office/officeart/2005/8/layout/vProcess5"/>
    <dgm:cxn modelId="{8BB61069-C07B-1F4C-A55C-0394CBEAA39D}" type="presParOf" srcId="{AD8B76C2-E33B-DA47-83E3-4AB585B2163C}" destId="{B568F17D-C5C8-C745-928E-84CEB6BBA184}" srcOrd="5" destOrd="0" presId="urn:microsoft.com/office/officeart/2005/8/layout/vProcess5"/>
    <dgm:cxn modelId="{5193021A-308E-6547-8E79-34C71255A3C1}" type="presParOf" srcId="{AD8B76C2-E33B-DA47-83E3-4AB585B2163C}" destId="{99C2F6A9-8D7D-1843-A620-B2EB78EE50A9}" srcOrd="6" destOrd="0" presId="urn:microsoft.com/office/officeart/2005/8/layout/vProcess5"/>
    <dgm:cxn modelId="{CEEFCCAF-FDE4-4F4A-87E6-F46D2145D527}" type="presParOf" srcId="{AD8B76C2-E33B-DA47-83E3-4AB585B2163C}" destId="{64416C55-B22C-104D-9BEC-FE61F492FDDC}" srcOrd="7" destOrd="0" presId="urn:microsoft.com/office/officeart/2005/8/layout/vProcess5"/>
    <dgm:cxn modelId="{D2F932C1-FDF0-FE40-A71F-44AFC090E2F1}" type="presParOf" srcId="{AD8B76C2-E33B-DA47-83E3-4AB585B2163C}" destId="{1CE69375-3F43-DE41-BB30-50E09B5B879F}" srcOrd="8" destOrd="0" presId="urn:microsoft.com/office/officeart/2005/8/layout/vProcess5"/>
    <dgm:cxn modelId="{50018A2A-C28D-3E44-AD40-1CF3A11EE981}" type="presParOf" srcId="{AD8B76C2-E33B-DA47-83E3-4AB585B2163C}" destId="{3FED3658-7B67-A840-8DBF-DCC95B12885A}" srcOrd="9" destOrd="0" presId="urn:microsoft.com/office/officeart/2005/8/layout/vProcess5"/>
    <dgm:cxn modelId="{616D742D-0682-D449-8638-A85CF8EAD355}" type="presParOf" srcId="{AD8B76C2-E33B-DA47-83E3-4AB585B2163C}" destId="{02F59906-2C79-C74F-9C15-0E2858A6E4AB}" srcOrd="10" destOrd="0" presId="urn:microsoft.com/office/officeart/2005/8/layout/vProcess5"/>
    <dgm:cxn modelId="{BC18492A-757A-D543-A0C7-D368D52EEAC9}" type="presParOf" srcId="{AD8B76C2-E33B-DA47-83E3-4AB585B2163C}" destId="{9B9ECF07-B347-0841-8F40-3112C307BC72}" srcOrd="11" destOrd="0" presId="urn:microsoft.com/office/officeart/2005/8/layout/vProcess5"/>
    <dgm:cxn modelId="{70E5ECFD-8387-CA42-B6A4-B3769366BFA9}" type="presParOf" srcId="{AD8B76C2-E33B-DA47-83E3-4AB585B2163C}" destId="{5AEA8386-10C6-B943-A52C-71441E6ED2DA}" srcOrd="12" destOrd="0" presId="urn:microsoft.com/office/officeart/2005/8/layout/vProcess5"/>
    <dgm:cxn modelId="{6863C35E-5156-9E4A-8854-F448CD1E8EA4}" type="presParOf" srcId="{AD8B76C2-E33B-DA47-83E3-4AB585B2163C}" destId="{DACDF79A-CB62-CE4C-B3FC-67D6CF211D0B}" srcOrd="13" destOrd="0" presId="urn:microsoft.com/office/officeart/2005/8/layout/vProcess5"/>
    <dgm:cxn modelId="{2EC5B36F-3FDC-E84A-95AF-0836B3854BE7}" type="presParOf" srcId="{AD8B76C2-E33B-DA47-83E3-4AB585B2163C}" destId="{64588DF7-CA20-B046-BFD7-483039490ABE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B366C5-CC8D-40C1-BE61-1E385341C15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96270BC-087C-4C07-A31C-786A54F607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More standardized HPO approach</a:t>
          </a:r>
        </a:p>
      </dgm:t>
    </dgm:pt>
    <dgm:pt modelId="{79F4F6AA-DDC8-444B-B269-116F80621363}" type="parTrans" cxnId="{5EDCE4D6-E5A9-4818-BB10-14CBF4937CCD}">
      <dgm:prSet/>
      <dgm:spPr/>
      <dgm:t>
        <a:bodyPr/>
        <a:lstStyle/>
        <a:p>
          <a:endParaRPr lang="en-US"/>
        </a:p>
      </dgm:t>
    </dgm:pt>
    <dgm:pt modelId="{F8BBF6E7-918A-4255-9469-C7EA0550E55B}" type="sibTrans" cxnId="{5EDCE4D6-E5A9-4818-BB10-14CBF4937CCD}">
      <dgm:prSet/>
      <dgm:spPr/>
      <dgm:t>
        <a:bodyPr/>
        <a:lstStyle/>
        <a:p>
          <a:endParaRPr lang="en-US"/>
        </a:p>
      </dgm:t>
    </dgm:pt>
    <dgm:pt modelId="{18999D5E-835B-4100-98C4-2F1638F3F3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Increased Epochs for Clearer Patterns</a:t>
          </a:r>
        </a:p>
      </dgm:t>
    </dgm:pt>
    <dgm:pt modelId="{45FD0BA5-0075-4A8D-9A9F-934DA607E752}" type="parTrans" cxnId="{931E842E-CBF3-44FE-82E0-70398CAA0D35}">
      <dgm:prSet/>
      <dgm:spPr/>
      <dgm:t>
        <a:bodyPr/>
        <a:lstStyle/>
        <a:p>
          <a:endParaRPr lang="en-US"/>
        </a:p>
      </dgm:t>
    </dgm:pt>
    <dgm:pt modelId="{8618ABF9-E2C2-45D3-A942-CAB220C40BE0}" type="sibTrans" cxnId="{931E842E-CBF3-44FE-82E0-70398CAA0D35}">
      <dgm:prSet/>
      <dgm:spPr/>
      <dgm:t>
        <a:bodyPr/>
        <a:lstStyle/>
        <a:p>
          <a:endParaRPr lang="en-US"/>
        </a:p>
      </dgm:t>
    </dgm:pt>
    <dgm:pt modelId="{6849EBD0-538C-4798-AF15-0409086791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More Complex Datasets</a:t>
          </a:r>
        </a:p>
      </dgm:t>
    </dgm:pt>
    <dgm:pt modelId="{9F381A3D-47EF-4B74-A8FB-2764FC893AB4}" type="parTrans" cxnId="{528F03F2-A5D9-47AA-8B40-5A02512B1C58}">
      <dgm:prSet/>
      <dgm:spPr/>
      <dgm:t>
        <a:bodyPr/>
        <a:lstStyle/>
        <a:p>
          <a:endParaRPr lang="en-US"/>
        </a:p>
      </dgm:t>
    </dgm:pt>
    <dgm:pt modelId="{6C1CC580-2C4F-47D7-8139-D15C4161A762}" type="sibTrans" cxnId="{528F03F2-A5D9-47AA-8B40-5A02512B1C58}">
      <dgm:prSet/>
      <dgm:spPr/>
      <dgm:t>
        <a:bodyPr/>
        <a:lstStyle/>
        <a:p>
          <a:endParaRPr lang="en-US"/>
        </a:p>
      </dgm:t>
    </dgm:pt>
    <dgm:pt modelId="{8D88663C-D8E7-45D3-81CD-02849B09875F}" type="pres">
      <dgm:prSet presAssocID="{E7B366C5-CC8D-40C1-BE61-1E385341C15C}" presName="root" presStyleCnt="0">
        <dgm:presLayoutVars>
          <dgm:dir/>
          <dgm:resizeHandles val="exact"/>
        </dgm:presLayoutVars>
      </dgm:prSet>
      <dgm:spPr/>
    </dgm:pt>
    <dgm:pt modelId="{EBA7F79E-E2EB-45B6-AB68-038E48A63FD0}" type="pres">
      <dgm:prSet presAssocID="{696270BC-087C-4C07-A31C-786A54F6079C}" presName="compNode" presStyleCnt="0"/>
      <dgm:spPr/>
    </dgm:pt>
    <dgm:pt modelId="{9FF3CCF1-3A1E-41CA-99F3-1FB4B03D5D80}" type="pres">
      <dgm:prSet presAssocID="{696270BC-087C-4C07-A31C-786A54F6079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BA03E7D-6E4A-465D-A716-E89709123888}" type="pres">
      <dgm:prSet presAssocID="{696270BC-087C-4C07-A31C-786A54F6079C}" presName="spaceRect" presStyleCnt="0"/>
      <dgm:spPr/>
    </dgm:pt>
    <dgm:pt modelId="{B8818E0F-5B66-492D-ACE1-85FC05060B36}" type="pres">
      <dgm:prSet presAssocID="{696270BC-087C-4C07-A31C-786A54F6079C}" presName="textRect" presStyleLbl="revTx" presStyleIdx="0" presStyleCnt="3">
        <dgm:presLayoutVars>
          <dgm:chMax val="1"/>
          <dgm:chPref val="1"/>
        </dgm:presLayoutVars>
      </dgm:prSet>
      <dgm:spPr/>
    </dgm:pt>
    <dgm:pt modelId="{287F49DE-7090-4CCF-8D75-1D38107C1188}" type="pres">
      <dgm:prSet presAssocID="{F8BBF6E7-918A-4255-9469-C7EA0550E55B}" presName="sibTrans" presStyleCnt="0"/>
      <dgm:spPr/>
    </dgm:pt>
    <dgm:pt modelId="{7CA987B6-FC91-4718-B544-36487FE28D47}" type="pres">
      <dgm:prSet presAssocID="{18999D5E-835B-4100-98C4-2F1638F3F33A}" presName="compNode" presStyleCnt="0"/>
      <dgm:spPr/>
    </dgm:pt>
    <dgm:pt modelId="{5248EB05-B3B3-4F05-860A-C0DC8736104B}" type="pres">
      <dgm:prSet presAssocID="{18999D5E-835B-4100-98C4-2F1638F3F33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8DA9FB4C-21D5-4322-9D8B-3770D962BFEF}" type="pres">
      <dgm:prSet presAssocID="{18999D5E-835B-4100-98C4-2F1638F3F33A}" presName="spaceRect" presStyleCnt="0"/>
      <dgm:spPr/>
    </dgm:pt>
    <dgm:pt modelId="{B9E95947-9FE2-473E-A115-6AB672344BEE}" type="pres">
      <dgm:prSet presAssocID="{18999D5E-835B-4100-98C4-2F1638F3F33A}" presName="textRect" presStyleLbl="revTx" presStyleIdx="1" presStyleCnt="3">
        <dgm:presLayoutVars>
          <dgm:chMax val="1"/>
          <dgm:chPref val="1"/>
        </dgm:presLayoutVars>
      </dgm:prSet>
      <dgm:spPr/>
    </dgm:pt>
    <dgm:pt modelId="{BB61C9E4-65C5-4F87-8EA8-8A936ABA642C}" type="pres">
      <dgm:prSet presAssocID="{8618ABF9-E2C2-45D3-A942-CAB220C40BE0}" presName="sibTrans" presStyleCnt="0"/>
      <dgm:spPr/>
    </dgm:pt>
    <dgm:pt modelId="{4986043B-5956-4B03-AE9A-4B8D94D7633A}" type="pres">
      <dgm:prSet presAssocID="{6849EBD0-538C-4798-AF15-040908679193}" presName="compNode" presStyleCnt="0"/>
      <dgm:spPr/>
    </dgm:pt>
    <dgm:pt modelId="{7A9B7B7B-60CD-4736-845C-2F73D72CDB3F}" type="pres">
      <dgm:prSet presAssocID="{6849EBD0-538C-4798-AF15-04090867919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845A9DF-C25F-4FEE-B575-629F9EE0EBC1}" type="pres">
      <dgm:prSet presAssocID="{6849EBD0-538C-4798-AF15-040908679193}" presName="spaceRect" presStyleCnt="0"/>
      <dgm:spPr/>
    </dgm:pt>
    <dgm:pt modelId="{38B8A401-2820-490D-BDBE-8CE7BC148B19}" type="pres">
      <dgm:prSet presAssocID="{6849EBD0-538C-4798-AF15-04090867919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24F1C17-3162-B94A-8C56-D3B062FF017A}" type="presOf" srcId="{E7B366C5-CC8D-40C1-BE61-1E385341C15C}" destId="{8D88663C-D8E7-45D3-81CD-02849B09875F}" srcOrd="0" destOrd="0" presId="urn:microsoft.com/office/officeart/2018/2/layout/IconLabelList"/>
    <dgm:cxn modelId="{931E842E-CBF3-44FE-82E0-70398CAA0D35}" srcId="{E7B366C5-CC8D-40C1-BE61-1E385341C15C}" destId="{18999D5E-835B-4100-98C4-2F1638F3F33A}" srcOrd="1" destOrd="0" parTransId="{45FD0BA5-0075-4A8D-9A9F-934DA607E752}" sibTransId="{8618ABF9-E2C2-45D3-A942-CAB220C40BE0}"/>
    <dgm:cxn modelId="{F782FE6B-706F-9949-B8FC-7FA02A059786}" type="presOf" srcId="{6849EBD0-538C-4798-AF15-040908679193}" destId="{38B8A401-2820-490D-BDBE-8CE7BC148B19}" srcOrd="0" destOrd="0" presId="urn:microsoft.com/office/officeart/2018/2/layout/IconLabelList"/>
    <dgm:cxn modelId="{BEE7C8B6-FF59-DC4C-A496-F32CEA2AF675}" type="presOf" srcId="{18999D5E-835B-4100-98C4-2F1638F3F33A}" destId="{B9E95947-9FE2-473E-A115-6AB672344BEE}" srcOrd="0" destOrd="0" presId="urn:microsoft.com/office/officeart/2018/2/layout/IconLabelList"/>
    <dgm:cxn modelId="{9D73D3B9-2FEB-F244-9047-22AD7BCD0D73}" type="presOf" srcId="{696270BC-087C-4C07-A31C-786A54F6079C}" destId="{B8818E0F-5B66-492D-ACE1-85FC05060B36}" srcOrd="0" destOrd="0" presId="urn:microsoft.com/office/officeart/2018/2/layout/IconLabelList"/>
    <dgm:cxn modelId="{5EDCE4D6-E5A9-4818-BB10-14CBF4937CCD}" srcId="{E7B366C5-CC8D-40C1-BE61-1E385341C15C}" destId="{696270BC-087C-4C07-A31C-786A54F6079C}" srcOrd="0" destOrd="0" parTransId="{79F4F6AA-DDC8-444B-B269-116F80621363}" sibTransId="{F8BBF6E7-918A-4255-9469-C7EA0550E55B}"/>
    <dgm:cxn modelId="{528F03F2-A5D9-47AA-8B40-5A02512B1C58}" srcId="{E7B366C5-CC8D-40C1-BE61-1E385341C15C}" destId="{6849EBD0-538C-4798-AF15-040908679193}" srcOrd="2" destOrd="0" parTransId="{9F381A3D-47EF-4B74-A8FB-2764FC893AB4}" sibTransId="{6C1CC580-2C4F-47D7-8139-D15C4161A762}"/>
    <dgm:cxn modelId="{BEE369BA-1B54-2E4A-98C5-D85E7D156343}" type="presParOf" srcId="{8D88663C-D8E7-45D3-81CD-02849B09875F}" destId="{EBA7F79E-E2EB-45B6-AB68-038E48A63FD0}" srcOrd="0" destOrd="0" presId="urn:microsoft.com/office/officeart/2018/2/layout/IconLabelList"/>
    <dgm:cxn modelId="{21B98525-B684-3F4A-B258-FF4FA3279B7E}" type="presParOf" srcId="{EBA7F79E-E2EB-45B6-AB68-038E48A63FD0}" destId="{9FF3CCF1-3A1E-41CA-99F3-1FB4B03D5D80}" srcOrd="0" destOrd="0" presId="urn:microsoft.com/office/officeart/2018/2/layout/IconLabelList"/>
    <dgm:cxn modelId="{20467B0B-2757-FF44-9850-12681558A0EA}" type="presParOf" srcId="{EBA7F79E-E2EB-45B6-AB68-038E48A63FD0}" destId="{4BA03E7D-6E4A-465D-A716-E89709123888}" srcOrd="1" destOrd="0" presId="urn:microsoft.com/office/officeart/2018/2/layout/IconLabelList"/>
    <dgm:cxn modelId="{8AF08517-BEAE-694C-A4F4-9B995282340C}" type="presParOf" srcId="{EBA7F79E-E2EB-45B6-AB68-038E48A63FD0}" destId="{B8818E0F-5B66-492D-ACE1-85FC05060B36}" srcOrd="2" destOrd="0" presId="urn:microsoft.com/office/officeart/2018/2/layout/IconLabelList"/>
    <dgm:cxn modelId="{E29AE027-ADA1-0B41-A14D-4A71436C4530}" type="presParOf" srcId="{8D88663C-D8E7-45D3-81CD-02849B09875F}" destId="{287F49DE-7090-4CCF-8D75-1D38107C1188}" srcOrd="1" destOrd="0" presId="urn:microsoft.com/office/officeart/2018/2/layout/IconLabelList"/>
    <dgm:cxn modelId="{C5BDE675-04F1-9546-8929-957655B43340}" type="presParOf" srcId="{8D88663C-D8E7-45D3-81CD-02849B09875F}" destId="{7CA987B6-FC91-4718-B544-36487FE28D47}" srcOrd="2" destOrd="0" presId="urn:microsoft.com/office/officeart/2018/2/layout/IconLabelList"/>
    <dgm:cxn modelId="{49850AD0-5137-8D4E-ACF6-33D55891EF9F}" type="presParOf" srcId="{7CA987B6-FC91-4718-B544-36487FE28D47}" destId="{5248EB05-B3B3-4F05-860A-C0DC8736104B}" srcOrd="0" destOrd="0" presId="urn:microsoft.com/office/officeart/2018/2/layout/IconLabelList"/>
    <dgm:cxn modelId="{F31CA762-8BB6-7F4A-A007-3DD2D57F5D1E}" type="presParOf" srcId="{7CA987B6-FC91-4718-B544-36487FE28D47}" destId="{8DA9FB4C-21D5-4322-9D8B-3770D962BFEF}" srcOrd="1" destOrd="0" presId="urn:microsoft.com/office/officeart/2018/2/layout/IconLabelList"/>
    <dgm:cxn modelId="{97141A5E-1EEB-2944-AFE9-8B54D2D306FA}" type="presParOf" srcId="{7CA987B6-FC91-4718-B544-36487FE28D47}" destId="{B9E95947-9FE2-473E-A115-6AB672344BEE}" srcOrd="2" destOrd="0" presId="urn:microsoft.com/office/officeart/2018/2/layout/IconLabelList"/>
    <dgm:cxn modelId="{8747E774-7E03-9740-9B29-0C0047C2DFA5}" type="presParOf" srcId="{8D88663C-D8E7-45D3-81CD-02849B09875F}" destId="{BB61C9E4-65C5-4F87-8EA8-8A936ABA642C}" srcOrd="3" destOrd="0" presId="urn:microsoft.com/office/officeart/2018/2/layout/IconLabelList"/>
    <dgm:cxn modelId="{B67C6F94-4FF1-A446-B8FF-957521EDF9F1}" type="presParOf" srcId="{8D88663C-D8E7-45D3-81CD-02849B09875F}" destId="{4986043B-5956-4B03-AE9A-4B8D94D7633A}" srcOrd="4" destOrd="0" presId="urn:microsoft.com/office/officeart/2018/2/layout/IconLabelList"/>
    <dgm:cxn modelId="{B49E2890-7AE1-E549-936F-F5FEC0E1BAB6}" type="presParOf" srcId="{4986043B-5956-4B03-AE9A-4B8D94D7633A}" destId="{7A9B7B7B-60CD-4736-845C-2F73D72CDB3F}" srcOrd="0" destOrd="0" presId="urn:microsoft.com/office/officeart/2018/2/layout/IconLabelList"/>
    <dgm:cxn modelId="{BB50D624-5288-C44B-91E7-B2B195B264D4}" type="presParOf" srcId="{4986043B-5956-4B03-AE9A-4B8D94D7633A}" destId="{5845A9DF-C25F-4FEE-B575-629F9EE0EBC1}" srcOrd="1" destOrd="0" presId="urn:microsoft.com/office/officeart/2018/2/layout/IconLabelList"/>
    <dgm:cxn modelId="{4B0FA2C2-6B7C-2841-AF88-C83AEA252F4C}" type="presParOf" srcId="{4986043B-5956-4B03-AE9A-4B8D94D7633A}" destId="{38B8A401-2820-490D-BDBE-8CE7BC148B1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2BFF26-C860-4D48-BB9D-B52E91E98060}">
      <dsp:nvSpPr>
        <dsp:cNvPr id="0" name=""/>
        <dsp:cNvSpPr/>
      </dsp:nvSpPr>
      <dsp:spPr>
        <a:xfrm>
          <a:off x="0" y="0"/>
          <a:ext cx="6920301" cy="6577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KMNIST 28 x 28 Greyscale</a:t>
          </a:r>
        </a:p>
      </dsp:txBody>
      <dsp:txXfrm>
        <a:off x="19264" y="19264"/>
        <a:ext cx="6133628" cy="619181"/>
      </dsp:txXfrm>
    </dsp:sp>
    <dsp:sp modelId="{AB60D780-8C19-F546-BB17-24E33CF94062}">
      <dsp:nvSpPr>
        <dsp:cNvPr id="0" name=""/>
        <dsp:cNvSpPr/>
      </dsp:nvSpPr>
      <dsp:spPr>
        <a:xfrm>
          <a:off x="516775" y="749057"/>
          <a:ext cx="6920301" cy="6577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13291"/>
                <a:satOff val="-11998"/>
                <a:lumOff val="-294"/>
                <a:alphaOff val="0"/>
                <a:tint val="96000"/>
                <a:lumMod val="104000"/>
              </a:schemeClr>
            </a:gs>
            <a:gs pos="100000">
              <a:schemeClr val="accent2">
                <a:hueOff val="113291"/>
                <a:satOff val="-11998"/>
                <a:lumOff val="-294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Input Layer | Input Standardization; Flatten 1D; 784 Features</a:t>
          </a:r>
        </a:p>
      </dsp:txBody>
      <dsp:txXfrm>
        <a:off x="536039" y="768321"/>
        <a:ext cx="5937486" cy="619181"/>
      </dsp:txXfrm>
    </dsp:sp>
    <dsp:sp modelId="{A9EDC521-DCD8-D042-940E-5EDCF61ACA47}">
      <dsp:nvSpPr>
        <dsp:cNvPr id="0" name=""/>
        <dsp:cNvSpPr/>
      </dsp:nvSpPr>
      <dsp:spPr>
        <a:xfrm>
          <a:off x="1033551" y="1498115"/>
          <a:ext cx="6920301" cy="6577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26582"/>
                <a:satOff val="-23996"/>
                <a:lumOff val="-588"/>
                <a:alphaOff val="0"/>
                <a:tint val="96000"/>
                <a:lumMod val="104000"/>
              </a:schemeClr>
            </a:gs>
            <a:gs pos="100000">
              <a:schemeClr val="accent2">
                <a:hueOff val="226582"/>
                <a:satOff val="-23996"/>
                <a:lumOff val="-588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H1 | 128 Neurons; He Init; </a:t>
          </a:r>
          <a:r>
            <a:rPr lang="en-US" sz="1700" kern="1200" dirty="0" err="1"/>
            <a:t>BatchNorm</a:t>
          </a:r>
          <a:r>
            <a:rPr lang="en-US" sz="1700" kern="1200" dirty="0"/>
            <a:t>; </a:t>
          </a:r>
          <a:r>
            <a:rPr lang="en-US" sz="1700" kern="1200" dirty="0" err="1"/>
            <a:t>ReLU</a:t>
          </a:r>
          <a:r>
            <a:rPr lang="en-US" sz="1700" kern="1200" dirty="0"/>
            <a:t>; Dropout </a:t>
          </a:r>
        </a:p>
      </dsp:txBody>
      <dsp:txXfrm>
        <a:off x="1052815" y="1517379"/>
        <a:ext cx="5937486" cy="619181"/>
      </dsp:txXfrm>
    </dsp:sp>
    <dsp:sp modelId="{189D9E23-AE2F-E44D-818A-D6BF73748A5E}">
      <dsp:nvSpPr>
        <dsp:cNvPr id="0" name=""/>
        <dsp:cNvSpPr/>
      </dsp:nvSpPr>
      <dsp:spPr>
        <a:xfrm>
          <a:off x="1550327" y="2247173"/>
          <a:ext cx="6920301" cy="6577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339874"/>
                <a:satOff val="-35995"/>
                <a:lumOff val="-882"/>
                <a:alphaOff val="0"/>
                <a:tint val="96000"/>
                <a:lumMod val="104000"/>
              </a:schemeClr>
            </a:gs>
            <a:gs pos="100000">
              <a:schemeClr val="accent2">
                <a:hueOff val="339874"/>
                <a:satOff val="-35995"/>
                <a:lumOff val="-882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H2 | 64 Neurons; He Init; </a:t>
          </a:r>
          <a:r>
            <a:rPr lang="en-US" sz="1700" kern="1200" dirty="0" err="1"/>
            <a:t>BatchNorm</a:t>
          </a:r>
          <a:r>
            <a:rPr lang="en-US" sz="1700" kern="1200" dirty="0"/>
            <a:t>; </a:t>
          </a:r>
          <a:r>
            <a:rPr lang="en-US" sz="1700" kern="1200" dirty="0" err="1"/>
            <a:t>ReLU</a:t>
          </a:r>
          <a:r>
            <a:rPr lang="en-US" sz="1700" kern="1200" dirty="0"/>
            <a:t>; Dropout</a:t>
          </a:r>
        </a:p>
      </dsp:txBody>
      <dsp:txXfrm>
        <a:off x="1569591" y="2266437"/>
        <a:ext cx="5937486" cy="619181"/>
      </dsp:txXfrm>
    </dsp:sp>
    <dsp:sp modelId="{B568F17D-C5C8-C745-928E-84CEB6BBA184}">
      <dsp:nvSpPr>
        <dsp:cNvPr id="0" name=""/>
        <dsp:cNvSpPr/>
      </dsp:nvSpPr>
      <dsp:spPr>
        <a:xfrm>
          <a:off x="2067102" y="2996231"/>
          <a:ext cx="6920301" cy="6577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53165"/>
                <a:satOff val="-47993"/>
                <a:lumOff val="-1176"/>
                <a:alphaOff val="0"/>
                <a:tint val="96000"/>
                <a:lumMod val="104000"/>
              </a:schemeClr>
            </a:gs>
            <a:gs pos="100000">
              <a:schemeClr val="accent2">
                <a:hueOff val="453165"/>
                <a:satOff val="-47993"/>
                <a:lumOff val="-1176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Output | Xavier Init; 10 Neurons</a:t>
          </a:r>
        </a:p>
      </dsp:txBody>
      <dsp:txXfrm>
        <a:off x="2086366" y="3015495"/>
        <a:ext cx="5937486" cy="619181"/>
      </dsp:txXfrm>
    </dsp:sp>
    <dsp:sp modelId="{99C2F6A9-8D7D-1843-A620-B2EB78EE50A9}">
      <dsp:nvSpPr>
        <dsp:cNvPr id="0" name=""/>
        <dsp:cNvSpPr/>
      </dsp:nvSpPr>
      <dsp:spPr>
        <a:xfrm>
          <a:off x="6492789" y="480493"/>
          <a:ext cx="427511" cy="4275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588979" y="480493"/>
        <a:ext cx="235131" cy="321702"/>
      </dsp:txXfrm>
    </dsp:sp>
    <dsp:sp modelId="{64416C55-B22C-104D-9BEC-FE61F492FDDC}">
      <dsp:nvSpPr>
        <dsp:cNvPr id="0" name=""/>
        <dsp:cNvSpPr/>
      </dsp:nvSpPr>
      <dsp:spPr>
        <a:xfrm>
          <a:off x="7009565" y="1229551"/>
          <a:ext cx="427511" cy="4275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09552"/>
            <a:satOff val="-13952"/>
            <a:lumOff val="-985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309552"/>
              <a:satOff val="-13952"/>
              <a:lumOff val="-98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105755" y="1229551"/>
        <a:ext cx="235131" cy="321702"/>
      </dsp:txXfrm>
    </dsp:sp>
    <dsp:sp modelId="{1CE69375-3F43-DE41-BB30-50E09B5B879F}">
      <dsp:nvSpPr>
        <dsp:cNvPr id="0" name=""/>
        <dsp:cNvSpPr/>
      </dsp:nvSpPr>
      <dsp:spPr>
        <a:xfrm>
          <a:off x="7526341" y="1967647"/>
          <a:ext cx="427511" cy="4275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19103"/>
            <a:satOff val="-27904"/>
            <a:lumOff val="-1969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619103"/>
              <a:satOff val="-27904"/>
              <a:lumOff val="-196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622531" y="1967647"/>
        <a:ext cx="235131" cy="321702"/>
      </dsp:txXfrm>
    </dsp:sp>
    <dsp:sp modelId="{3FED3658-7B67-A840-8DBF-DCC95B12885A}">
      <dsp:nvSpPr>
        <dsp:cNvPr id="0" name=""/>
        <dsp:cNvSpPr/>
      </dsp:nvSpPr>
      <dsp:spPr>
        <a:xfrm>
          <a:off x="8043117" y="2724013"/>
          <a:ext cx="427511" cy="4275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928655"/>
            <a:satOff val="-41856"/>
            <a:lumOff val="-2954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928655"/>
              <a:satOff val="-41856"/>
              <a:lumOff val="-295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139307" y="2724013"/>
        <a:ext cx="235131" cy="3217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F3CCF1-3A1E-41CA-99F3-1FB4B03D5D80}">
      <dsp:nvSpPr>
        <dsp:cNvPr id="0" name=""/>
        <dsp:cNvSpPr/>
      </dsp:nvSpPr>
      <dsp:spPr>
        <a:xfrm>
          <a:off x="1030355" y="748503"/>
          <a:ext cx="1113218" cy="1113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818E0F-5B66-492D-ACE1-85FC05060B36}">
      <dsp:nvSpPr>
        <dsp:cNvPr id="0" name=""/>
        <dsp:cNvSpPr/>
      </dsp:nvSpPr>
      <dsp:spPr>
        <a:xfrm>
          <a:off x="350054" y="2185437"/>
          <a:ext cx="247381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More standardized HPO approach</a:t>
          </a:r>
        </a:p>
      </dsp:txBody>
      <dsp:txXfrm>
        <a:off x="350054" y="2185437"/>
        <a:ext cx="2473819" cy="720000"/>
      </dsp:txXfrm>
    </dsp:sp>
    <dsp:sp modelId="{5248EB05-B3B3-4F05-860A-C0DC8736104B}">
      <dsp:nvSpPr>
        <dsp:cNvPr id="0" name=""/>
        <dsp:cNvSpPr/>
      </dsp:nvSpPr>
      <dsp:spPr>
        <a:xfrm>
          <a:off x="3937092" y="748503"/>
          <a:ext cx="1113218" cy="1113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E95947-9FE2-473E-A115-6AB672344BEE}">
      <dsp:nvSpPr>
        <dsp:cNvPr id="0" name=""/>
        <dsp:cNvSpPr/>
      </dsp:nvSpPr>
      <dsp:spPr>
        <a:xfrm>
          <a:off x="3256792" y="2185437"/>
          <a:ext cx="247381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Increased Epochs for Clearer Patterns</a:t>
          </a:r>
        </a:p>
      </dsp:txBody>
      <dsp:txXfrm>
        <a:off x="3256792" y="2185437"/>
        <a:ext cx="2473819" cy="720000"/>
      </dsp:txXfrm>
    </dsp:sp>
    <dsp:sp modelId="{7A9B7B7B-60CD-4736-845C-2F73D72CDB3F}">
      <dsp:nvSpPr>
        <dsp:cNvPr id="0" name=""/>
        <dsp:cNvSpPr/>
      </dsp:nvSpPr>
      <dsp:spPr>
        <a:xfrm>
          <a:off x="6843830" y="748503"/>
          <a:ext cx="1113218" cy="1113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B8A401-2820-490D-BDBE-8CE7BC148B19}">
      <dsp:nvSpPr>
        <dsp:cNvPr id="0" name=""/>
        <dsp:cNvSpPr/>
      </dsp:nvSpPr>
      <dsp:spPr>
        <a:xfrm>
          <a:off x="6163529" y="2185437"/>
          <a:ext cx="247381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More Complex Datasets</a:t>
          </a:r>
        </a:p>
      </dsp:txBody>
      <dsp:txXfrm>
        <a:off x="6163529" y="2185437"/>
        <a:ext cx="247381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228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0554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7977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4241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5566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3308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8838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938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6579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5899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897253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7921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94851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494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413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843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488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pm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pdf/1308.0850v5" TargetMode="External"/><Relationship Id="rId3" Type="http://schemas.openxmlformats.org/officeDocument/2006/relationships/hyperlink" Target="https://arxiv.org/abs/1711.05101" TargetMode="External"/><Relationship Id="rId7" Type="http://schemas.openxmlformats.org/officeDocument/2006/relationships/hyperlink" Target="https://www.geeksforgeeks.org/deep-learning/rmsprop-optimizer-in-deep-learning/" TargetMode="External"/><Relationship Id="rId2" Type="http://schemas.openxmlformats.org/officeDocument/2006/relationships/hyperlink" Target="https://arxiv.org/abs/1412.698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pytorch.org/docs/2.12/generated/torch.optim.RMSprop.html" TargetMode="External"/><Relationship Id="rId5" Type="http://schemas.openxmlformats.org/officeDocument/2006/relationships/hyperlink" Target="https://arxiv.org/abs/1812.01718" TargetMode="External"/><Relationship Id="rId10" Type="http://schemas.openxmlformats.org/officeDocument/2006/relationships/hyperlink" Target="https://docs.pytorch.org/docs/2.12/generated/torch.optim.AdamW.html" TargetMode="External"/><Relationship Id="rId4" Type="http://schemas.openxmlformats.org/officeDocument/2006/relationships/hyperlink" Target="https://www.cs.toronto.edu/~tijmen/csc321/slides/lecture_slides_lec6.pdf" TargetMode="External"/><Relationship Id="rId9" Type="http://schemas.openxmlformats.org/officeDocument/2006/relationships/hyperlink" Target="https://apxml.com/courses/optimization-techniques-ml/chapter-1-ml-optimization-foundations-review/loss-surface-analysis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115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17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131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4" name="Rectangle 143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6" name="Freeform 11">
            <a:extLst>
              <a:ext uri="{FF2B5EF4-FFF2-40B4-BE49-F238E27FC236}">
                <a16:creationId xmlns:a16="http://schemas.microsoft.com/office/drawing/2014/main" id="{BFE4781A-41C7-4F27-8792-A74EFB8E5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148" name="Rectangle 147">
            <a:extLst>
              <a:ext uri="{FF2B5EF4-FFF2-40B4-BE49-F238E27FC236}">
                <a16:creationId xmlns:a16="http://schemas.microsoft.com/office/drawing/2014/main" id="{66AFD431-09B7-42CA-BF39-9FE5DBE53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9711C96E-3D2D-48C8-AAB9-C1CB02D1D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accent1">
              <a:alpha val="30000"/>
            </a:schemeClr>
          </a:solidFill>
        </p:grpSpPr>
        <p:sp>
          <p:nvSpPr>
            <p:cNvPr id="151" name="Freeform 11">
              <a:extLst>
                <a:ext uri="{FF2B5EF4-FFF2-40B4-BE49-F238E27FC236}">
                  <a16:creationId xmlns:a16="http://schemas.microsoft.com/office/drawing/2014/main" id="{0D18AF42-7CD5-4754-91D4-1BE53B5D1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12">
              <a:extLst>
                <a:ext uri="{FF2B5EF4-FFF2-40B4-BE49-F238E27FC236}">
                  <a16:creationId xmlns:a16="http://schemas.microsoft.com/office/drawing/2014/main" id="{A28C8F1A-9407-4D67-8250-D8923BC6D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13">
              <a:extLst>
                <a:ext uri="{FF2B5EF4-FFF2-40B4-BE49-F238E27FC236}">
                  <a16:creationId xmlns:a16="http://schemas.microsoft.com/office/drawing/2014/main" id="{5CE0A2B0-F7F1-442C-A287-CD6F729E2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 14">
              <a:extLst>
                <a:ext uri="{FF2B5EF4-FFF2-40B4-BE49-F238E27FC236}">
                  <a16:creationId xmlns:a16="http://schemas.microsoft.com/office/drawing/2014/main" id="{9E69CFA3-AE12-4EAF-A3A1-564BEEFEF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Freeform 15">
              <a:extLst>
                <a:ext uri="{FF2B5EF4-FFF2-40B4-BE49-F238E27FC236}">
                  <a16:creationId xmlns:a16="http://schemas.microsoft.com/office/drawing/2014/main" id="{ECB64037-2AE8-4CA9-AD8E-7ACC8618F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Freeform 16">
              <a:extLst>
                <a:ext uri="{FF2B5EF4-FFF2-40B4-BE49-F238E27FC236}">
                  <a16:creationId xmlns:a16="http://schemas.microsoft.com/office/drawing/2014/main" id="{8D319B10-EE8E-453F-A137-D7EEFA208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Freeform 17">
              <a:extLst>
                <a:ext uri="{FF2B5EF4-FFF2-40B4-BE49-F238E27FC236}">
                  <a16:creationId xmlns:a16="http://schemas.microsoft.com/office/drawing/2014/main" id="{3283F486-509C-4A42-8EED-794A991D2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Freeform 18">
              <a:extLst>
                <a:ext uri="{FF2B5EF4-FFF2-40B4-BE49-F238E27FC236}">
                  <a16:creationId xmlns:a16="http://schemas.microsoft.com/office/drawing/2014/main" id="{EBBFBB12-E756-4386-9C17-CA5743838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Freeform 19">
              <a:extLst>
                <a:ext uri="{FF2B5EF4-FFF2-40B4-BE49-F238E27FC236}">
                  <a16:creationId xmlns:a16="http://schemas.microsoft.com/office/drawing/2014/main" id="{7ADD0E7E-F4A6-4B3F-8A2F-BCBFAFBA23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Freeform 20">
              <a:extLst>
                <a:ext uri="{FF2B5EF4-FFF2-40B4-BE49-F238E27FC236}">
                  <a16:creationId xmlns:a16="http://schemas.microsoft.com/office/drawing/2014/main" id="{C19FCFB7-5E71-4197-8EC7-2ACB6DB02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Freeform 21">
              <a:extLst>
                <a:ext uri="{FF2B5EF4-FFF2-40B4-BE49-F238E27FC236}">
                  <a16:creationId xmlns:a16="http://schemas.microsoft.com/office/drawing/2014/main" id="{EAA533FE-4903-48DD-A921-421A9C44AF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Freeform 22">
              <a:extLst>
                <a:ext uri="{FF2B5EF4-FFF2-40B4-BE49-F238E27FC236}">
                  <a16:creationId xmlns:a16="http://schemas.microsoft.com/office/drawing/2014/main" id="{54CC5D8E-0D6C-4021-B84E-5D6182C0E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BEBE261-3799-DA1A-1A5B-6DA3845DCA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9756" y="1159566"/>
            <a:ext cx="3662939" cy="45682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A Tale of Three Optimizers</a:t>
            </a:r>
          </a:p>
        </p:txBody>
      </p:sp>
      <p:sp>
        <p:nvSpPr>
          <p:cNvPr id="164" name="Freeform 6">
            <a:extLst>
              <a:ext uri="{FF2B5EF4-FFF2-40B4-BE49-F238E27FC236}">
                <a16:creationId xmlns:a16="http://schemas.microsoft.com/office/drawing/2014/main" id="{E7D63BAB-D0DB-4F66-92F9-4D2E0A2E5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643468"/>
            <a:ext cx="7560245" cy="5571066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0214B3-8D4B-C27C-DEAF-5FCBB2A680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310" y="1286934"/>
            <a:ext cx="5292436" cy="42841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 3" charset="2"/>
              <a:buChar char=""/>
            </a:pPr>
            <a:r>
              <a:rPr lang="en-US" dirty="0">
                <a:solidFill>
                  <a:srgbClr val="FFFFFF"/>
                </a:solidFill>
              </a:rPr>
              <a:t>AIGC 5500 0NA | Advanced Deep Learning</a:t>
            </a:r>
          </a:p>
          <a:p>
            <a:pPr>
              <a:buFont typeface="Wingdings 3" charset="2"/>
              <a:buChar char=""/>
            </a:pPr>
            <a:r>
              <a:rPr lang="en-US" dirty="0">
                <a:solidFill>
                  <a:srgbClr val="FFFFFF"/>
                </a:solidFill>
              </a:rPr>
              <a:t>Team: </a:t>
            </a:r>
            <a:r>
              <a:rPr lang="en-US" dirty="0" err="1">
                <a:solidFill>
                  <a:srgbClr val="FFFFFF"/>
                </a:solidFill>
              </a:rPr>
              <a:t>HawkAI</a:t>
            </a:r>
            <a:r>
              <a:rPr lang="en-US" dirty="0">
                <a:solidFill>
                  <a:srgbClr val="FFFFFF"/>
                </a:solidFill>
              </a:rPr>
              <a:t> Detection</a:t>
            </a:r>
          </a:p>
          <a:p>
            <a:pPr lvl="1" algn="l">
              <a:buFont typeface="Wingdings 3" charset="2"/>
              <a:buChar char=""/>
            </a:pPr>
            <a:r>
              <a:rPr lang="en-US" dirty="0">
                <a:solidFill>
                  <a:srgbClr val="FFFFFF"/>
                </a:solidFill>
              </a:rPr>
              <a:t>Kevin Joseff Cabrera</a:t>
            </a:r>
          </a:p>
          <a:p>
            <a:pPr lvl="1" algn="l">
              <a:buFont typeface="Wingdings 3" charset="2"/>
              <a:buChar char=""/>
            </a:pPr>
            <a:r>
              <a:rPr lang="en-US" dirty="0">
                <a:solidFill>
                  <a:srgbClr val="FFFFFF"/>
                </a:solidFill>
              </a:rPr>
              <a:t>Mohd Mujtaba </a:t>
            </a:r>
            <a:r>
              <a:rPr lang="en-US" dirty="0" err="1">
                <a:solidFill>
                  <a:srgbClr val="FFFFFF"/>
                </a:solidFill>
              </a:rPr>
              <a:t>Saighani</a:t>
            </a:r>
            <a:endParaRPr lang="en-US" dirty="0">
              <a:solidFill>
                <a:srgbClr val="FFFFFF"/>
              </a:solidFill>
            </a:endParaRPr>
          </a:p>
          <a:p>
            <a:pPr lvl="1" algn="l">
              <a:buFont typeface="Wingdings 3" charset="2"/>
              <a:buChar char=""/>
            </a:pPr>
            <a:r>
              <a:rPr lang="en-US" dirty="0">
                <a:solidFill>
                  <a:srgbClr val="FFFFFF"/>
                </a:solidFill>
              </a:rPr>
              <a:t>Thiago </a:t>
            </a:r>
            <a:r>
              <a:rPr lang="en-US" dirty="0" err="1">
                <a:solidFill>
                  <a:srgbClr val="FFFFFF"/>
                </a:solidFill>
              </a:rPr>
              <a:t>Segantini</a:t>
            </a:r>
            <a:r>
              <a:rPr lang="en-US" dirty="0">
                <a:solidFill>
                  <a:srgbClr val="FFFFFF"/>
                </a:solidFill>
              </a:rPr>
              <a:t> Nogueira</a:t>
            </a:r>
          </a:p>
          <a:p>
            <a:pPr lvl="1" algn="l">
              <a:buFont typeface="Wingdings 3" charset="2"/>
              <a:buChar char=""/>
            </a:pPr>
            <a:r>
              <a:rPr lang="en-US" dirty="0" err="1">
                <a:solidFill>
                  <a:srgbClr val="FFFFFF"/>
                </a:solidFill>
              </a:rPr>
              <a:t>Sayamon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Sittiprom</a:t>
            </a:r>
            <a:endParaRPr lang="en-US" dirty="0">
              <a:solidFill>
                <a:srgbClr val="FFFFFF"/>
              </a:solidFill>
            </a:endParaRPr>
          </a:p>
          <a:p>
            <a:pPr lvl="1" algn="l">
              <a:buFont typeface="Wingdings 3" charset="2"/>
              <a:buChar char=""/>
            </a:pPr>
            <a:r>
              <a:rPr lang="en-US" dirty="0">
                <a:solidFill>
                  <a:srgbClr val="FFFFFF"/>
                </a:solidFill>
              </a:rPr>
              <a:t>Yao-Fu Yang</a:t>
            </a:r>
          </a:p>
        </p:txBody>
      </p:sp>
    </p:spTree>
    <p:extLst>
      <p:ext uri="{BB962C8B-B14F-4D97-AF65-F5344CB8AC3E}">
        <p14:creationId xmlns:p14="http://schemas.microsoft.com/office/powerpoint/2010/main" val="19995109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DD21E1-BAF0-4314-AB31-82ECB8AC9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60215E-F2DA-9E83-A0F1-248CBD2F3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5122652" cy="1259894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C8619C-F25D-468E-95FA-2A2151D7D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A7ECC-DCCE-7FC5-552F-544D85F73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8364" y="2192379"/>
            <a:ext cx="3832340" cy="3759253"/>
          </a:xfrm>
        </p:spPr>
        <p:txBody>
          <a:bodyPr>
            <a:normAutofit/>
          </a:bodyPr>
          <a:lstStyle/>
          <a:p>
            <a:r>
              <a:rPr lang="en-US" dirty="0"/>
              <a:t>Our journey thus far…</a:t>
            </a:r>
          </a:p>
          <a:p>
            <a:pPr lvl="1"/>
            <a:r>
              <a:rPr lang="en-US" dirty="0"/>
              <a:t>Input Standardization</a:t>
            </a:r>
          </a:p>
          <a:p>
            <a:pPr lvl="1"/>
            <a:r>
              <a:rPr lang="en-US" dirty="0"/>
              <a:t>Weight Initialization</a:t>
            </a:r>
          </a:p>
          <a:p>
            <a:pPr lvl="1"/>
            <a:r>
              <a:rPr lang="en-US" dirty="0"/>
              <a:t>Batch Normalization</a:t>
            </a:r>
          </a:p>
          <a:p>
            <a:pPr lvl="1"/>
            <a:r>
              <a:rPr lang="en-US" dirty="0"/>
              <a:t>Dropout Layers</a:t>
            </a:r>
          </a:p>
          <a:p>
            <a:pPr lvl="1"/>
            <a:r>
              <a:rPr lang="en-US" dirty="0"/>
              <a:t>Hidden Layers &amp; Dimensions</a:t>
            </a:r>
          </a:p>
          <a:p>
            <a:pPr lvl="1"/>
            <a:r>
              <a:rPr lang="en-US" dirty="0"/>
              <a:t>Activation Functions</a:t>
            </a:r>
          </a:p>
          <a:p>
            <a:pPr lvl="1"/>
            <a:r>
              <a:rPr lang="en-US" dirty="0"/>
              <a:t>Learning Rate</a:t>
            </a:r>
          </a:p>
          <a:p>
            <a:pPr lvl="1"/>
            <a:r>
              <a:rPr lang="en-US" dirty="0"/>
              <a:t>Etc.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67AC70-E7F0-33C8-D0ED-84BEC6F51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2043" y="3426233"/>
            <a:ext cx="3538578" cy="2698165"/>
          </a:xfrm>
          <a:prstGeom prst="rect">
            <a:avLst/>
          </a:prstGeom>
        </p:spPr>
      </p:pic>
      <p:sp>
        <p:nvSpPr>
          <p:cNvPr id="14" name="Freeform 12">
            <a:extLst>
              <a:ext uri="{FF2B5EF4-FFF2-40B4-BE49-F238E27FC236}">
                <a16:creationId xmlns:a16="http://schemas.microsoft.com/office/drawing/2014/main" id="{7D9439D6-DEAD-4CEB-A61B-BE3D64D1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E1259B8-9AF7-5139-FC1F-7AF3DF2661C9}"/>
              </a:ext>
            </a:extLst>
          </p:cNvPr>
          <p:cNvSpPr txBox="1">
            <a:spLocks/>
          </p:cNvSpPr>
          <p:nvPr/>
        </p:nvSpPr>
        <p:spPr>
          <a:xfrm>
            <a:off x="7384065" y="2166339"/>
            <a:ext cx="2976556" cy="125989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Next Up…</a:t>
            </a:r>
          </a:p>
          <a:p>
            <a:pPr lvl="1"/>
            <a:r>
              <a:rPr lang="en-US" dirty="0"/>
              <a:t>Optimizers</a:t>
            </a:r>
          </a:p>
          <a:p>
            <a:pPr lvl="1"/>
            <a:r>
              <a:rPr lang="en-US" dirty="0"/>
              <a:t>HPO</a:t>
            </a:r>
          </a:p>
          <a:p>
            <a:pPr lvl="1"/>
            <a:r>
              <a:rPr lang="en-US" dirty="0"/>
              <a:t>Cross-Validation</a:t>
            </a:r>
          </a:p>
        </p:txBody>
      </p:sp>
    </p:spTree>
    <p:extLst>
      <p:ext uri="{BB962C8B-B14F-4D97-AF65-F5344CB8AC3E}">
        <p14:creationId xmlns:p14="http://schemas.microsoft.com/office/powerpoint/2010/main" val="1900489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8DB7D-BABD-4305-E363-B36CA3BA0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4354A7-390C-8F46-5F08-351FAC44E1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358" y="3002472"/>
            <a:ext cx="5765800" cy="1790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A5DF23-5C35-F76A-ADC6-B6F61CD3C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805" y="1561755"/>
            <a:ext cx="5331837" cy="467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657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966DD2F-FBF5-41CE-A3F4-565352D95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222C6-F4C7-DF7B-46FE-302147DE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Model Architecture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6FCE2B-F2D2-466E-B0AA-8E341DB49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2BD31C98-199A-4722-A1A5-4393A43E7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C267F8F0-E777-BB22-D102-EBFB0FD63B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9190262"/>
              </p:ext>
            </p:extLst>
          </p:nvPr>
        </p:nvGraphicFramePr>
        <p:xfrm>
          <a:off x="1794897" y="2222983"/>
          <a:ext cx="8987404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1195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BEDD7-EF1E-1326-F6AA-C44E38921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D9930-5028-B259-C029-418590199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302" y="1632155"/>
            <a:ext cx="3392999" cy="3320846"/>
          </a:xfrm>
        </p:spPr>
        <p:txBody>
          <a:bodyPr>
            <a:normAutofit/>
          </a:bodyPr>
          <a:lstStyle/>
          <a:p>
            <a:r>
              <a:rPr lang="en-US" sz="2800" b="1" dirty="0"/>
              <a:t>RMSProp</a:t>
            </a:r>
          </a:p>
          <a:p>
            <a:r>
              <a:rPr lang="en-US" b="1" dirty="0"/>
              <a:t>Root Mean Square Prop</a:t>
            </a:r>
            <a:r>
              <a:rPr lang="en-US" dirty="0"/>
              <a:t>agation</a:t>
            </a:r>
          </a:p>
          <a:p>
            <a:r>
              <a:rPr lang="en-US" dirty="0"/>
              <a:t>Jeffrey Hinton during a lecture, 2012</a:t>
            </a:r>
          </a:p>
          <a:p>
            <a:r>
              <a:rPr lang="en-US" dirty="0"/>
              <a:t>SGD &amp; ADA with improved learning rate</a:t>
            </a:r>
          </a:p>
          <a:p>
            <a:r>
              <a:rPr lang="en-US" b="1" dirty="0"/>
              <a:t>Sliding window </a:t>
            </a:r>
            <a:r>
              <a:rPr lang="en-US" dirty="0"/>
              <a:t>for past gradients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1E5D3F2-5387-40E4-8C35-3CF59DD773D7}"/>
              </a:ext>
            </a:extLst>
          </p:cNvPr>
          <p:cNvSpPr txBox="1">
            <a:spLocks/>
          </p:cNvSpPr>
          <p:nvPr/>
        </p:nvSpPr>
        <p:spPr>
          <a:xfrm>
            <a:off x="4475700" y="1632155"/>
            <a:ext cx="3392999" cy="33208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/>
              <a:t>Adam</a:t>
            </a:r>
          </a:p>
          <a:p>
            <a:r>
              <a:rPr lang="en-US" b="1" dirty="0" err="1"/>
              <a:t>ADA</a:t>
            </a:r>
            <a:r>
              <a:rPr lang="en-US" dirty="0" err="1"/>
              <a:t>ptive</a:t>
            </a:r>
            <a:r>
              <a:rPr lang="en-US" dirty="0"/>
              <a:t> </a:t>
            </a:r>
            <a:r>
              <a:rPr lang="en-US" b="1" dirty="0"/>
              <a:t>M</a:t>
            </a:r>
            <a:r>
              <a:rPr lang="en-US" dirty="0"/>
              <a:t>oment Estimation</a:t>
            </a:r>
          </a:p>
          <a:p>
            <a:r>
              <a:rPr lang="en-US" dirty="0"/>
              <a:t>Kingma &amp; Ba, 2015</a:t>
            </a:r>
          </a:p>
          <a:p>
            <a:r>
              <a:rPr lang="en-US" dirty="0"/>
              <a:t>RMSProp with improved momentum </a:t>
            </a:r>
          </a:p>
          <a:p>
            <a:r>
              <a:rPr lang="en-US" dirty="0"/>
              <a:t>Uses the </a:t>
            </a:r>
            <a:r>
              <a:rPr lang="en-US" b="1" dirty="0"/>
              <a:t>mean of the gradients </a:t>
            </a:r>
            <a:r>
              <a:rPr lang="en-US" dirty="0"/>
              <a:t>as momentum</a:t>
            </a:r>
          </a:p>
          <a:p>
            <a:endParaRPr lang="en-US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590EBD8-425A-CCC1-6E5D-5A2845DA7AC2}"/>
              </a:ext>
            </a:extLst>
          </p:cNvPr>
          <p:cNvSpPr txBox="1">
            <a:spLocks/>
          </p:cNvSpPr>
          <p:nvPr/>
        </p:nvSpPr>
        <p:spPr>
          <a:xfrm>
            <a:off x="7868699" y="1632155"/>
            <a:ext cx="3556385" cy="3406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b="1" dirty="0" err="1"/>
              <a:t>AdamW</a:t>
            </a:r>
            <a:endParaRPr lang="en-US" sz="3000" b="1" dirty="0"/>
          </a:p>
          <a:p>
            <a:r>
              <a:rPr lang="en-US" b="1" dirty="0"/>
              <a:t>ADAM </a:t>
            </a:r>
            <a:r>
              <a:rPr lang="en-US" dirty="0"/>
              <a:t>with decoupled </a:t>
            </a:r>
            <a:r>
              <a:rPr lang="en-US" b="1" dirty="0"/>
              <a:t>W</a:t>
            </a:r>
            <a:r>
              <a:rPr lang="en-US" dirty="0"/>
              <a:t>eight Decay</a:t>
            </a:r>
          </a:p>
          <a:p>
            <a:r>
              <a:rPr lang="en-US" dirty="0" err="1"/>
              <a:t>Loschilov</a:t>
            </a:r>
            <a:r>
              <a:rPr lang="en-US" dirty="0"/>
              <a:t> &amp; Hutter, 2017</a:t>
            </a:r>
          </a:p>
          <a:p>
            <a:r>
              <a:rPr lang="en-US" dirty="0" err="1"/>
              <a:t>AdamW</a:t>
            </a:r>
            <a:r>
              <a:rPr lang="en-US" dirty="0"/>
              <a:t> with improved weight decay</a:t>
            </a:r>
          </a:p>
          <a:p>
            <a:r>
              <a:rPr lang="en-US" dirty="0"/>
              <a:t>Adds weight decay calculation </a:t>
            </a:r>
            <a:r>
              <a:rPr lang="en-US" b="1" dirty="0"/>
              <a:t>after</a:t>
            </a:r>
            <a:r>
              <a:rPr lang="en-US" dirty="0"/>
              <a:t> weight scaling</a:t>
            </a:r>
          </a:p>
          <a:p>
            <a:pPr marL="0" indent="0">
              <a:buNone/>
            </a:pPr>
            <a:endParaRPr lang="en-US" sz="2800" b="1" dirty="0"/>
          </a:p>
          <a:p>
            <a:endParaRPr lang="en-US" sz="2800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EFF417-F80E-5913-BD95-E9701796F1A7}"/>
              </a:ext>
            </a:extLst>
          </p:cNvPr>
          <p:cNvSpPr txBox="1">
            <a:spLocks/>
          </p:cNvSpPr>
          <p:nvPr/>
        </p:nvSpPr>
        <p:spPr>
          <a:xfrm>
            <a:off x="930302" y="5039033"/>
            <a:ext cx="3465869" cy="141092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/>
              <a:t>✅ </a:t>
            </a:r>
            <a:r>
              <a:rPr lang="en-US" b="1" dirty="0">
                <a:solidFill>
                  <a:schemeClr val="bg1"/>
                </a:solidFill>
              </a:rPr>
              <a:t>Datasets with rough loss gradients</a:t>
            </a:r>
          </a:p>
          <a:p>
            <a:pPr marL="0" indent="0">
              <a:buFont typeface="Wingdings 3" charset="2"/>
              <a:buNone/>
            </a:pPr>
            <a:r>
              <a:rPr lang="en-US" b="1" dirty="0">
                <a:solidFill>
                  <a:schemeClr val="bg1"/>
                </a:solidFill>
              </a:rPr>
              <a:t>❌Lags at datasets with smoother gradients</a:t>
            </a:r>
          </a:p>
          <a:p>
            <a:endParaRPr lang="en-US" b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748078A-07DF-4DCE-BAA5-1DAE3A36CC7A}"/>
              </a:ext>
            </a:extLst>
          </p:cNvPr>
          <p:cNvSpPr txBox="1">
            <a:spLocks/>
          </p:cNvSpPr>
          <p:nvPr/>
        </p:nvSpPr>
        <p:spPr>
          <a:xfrm>
            <a:off x="4475699" y="5039031"/>
            <a:ext cx="3313471" cy="141092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✅ Versatile, well-rounded algorithm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❌ Limited by its weight decay calculation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9F2A5B6-F780-92B0-2D75-1A1EF32453AA}"/>
              </a:ext>
            </a:extLst>
          </p:cNvPr>
          <p:cNvSpPr txBox="1">
            <a:spLocks/>
          </p:cNvSpPr>
          <p:nvPr/>
        </p:nvSpPr>
        <p:spPr>
          <a:xfrm>
            <a:off x="7868698" y="5043946"/>
            <a:ext cx="3313471" cy="141092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✅ Enhanced Weight Generalization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❌ 2x the memory usage</a:t>
            </a:r>
          </a:p>
        </p:txBody>
      </p:sp>
    </p:spTree>
    <p:extLst>
      <p:ext uri="{BB962C8B-B14F-4D97-AF65-F5344CB8AC3E}">
        <p14:creationId xmlns:p14="http://schemas.microsoft.com/office/powerpoint/2010/main" val="538213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36B0F-D414-AFE6-4D20-0558757F9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387D6-0963-2CEF-1BBD-0D0BAD003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6CDC9-D0BC-B38D-9875-88B554373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302" y="1504335"/>
            <a:ext cx="10574310" cy="5240594"/>
          </a:xfrm>
        </p:spPr>
        <p:txBody>
          <a:bodyPr>
            <a:normAutofit/>
          </a:bodyPr>
          <a:lstStyle/>
          <a:p>
            <a:r>
              <a:rPr lang="en-US" sz="2400" b="1" dirty="0"/>
              <a:t>Learning Rate </a:t>
            </a:r>
            <a:r>
              <a:rPr lang="en-US" sz="2400" b="1" i="1" dirty="0"/>
              <a:t>(</a:t>
            </a:r>
            <a:r>
              <a:rPr lang="en-US" sz="2400" b="1" i="1" dirty="0" err="1"/>
              <a:t>lr</a:t>
            </a:r>
            <a:r>
              <a:rPr lang="en-US" sz="2400" b="1" i="1" dirty="0"/>
              <a:t>)</a:t>
            </a:r>
          </a:p>
          <a:p>
            <a:pPr lvl="1"/>
            <a:r>
              <a:rPr lang="en-US" sz="2400" dirty="0"/>
              <a:t> </a:t>
            </a:r>
            <a:r>
              <a:rPr lang="en-US" sz="2200" dirty="0"/>
              <a:t>Model Learning Rate</a:t>
            </a:r>
          </a:p>
          <a:p>
            <a:r>
              <a:rPr lang="en-US" sz="2400" b="1" dirty="0"/>
              <a:t>Decay Rate (</a:t>
            </a:r>
            <a:r>
              <a:rPr lang="en-US" sz="2400" b="1" i="1" dirty="0"/>
              <a:t>Alpha (</a:t>
            </a:r>
            <a:r>
              <a:rPr lang="el-GR" sz="2400" b="1" i="1" dirty="0"/>
              <a:t>α</a:t>
            </a:r>
            <a:r>
              <a:rPr lang="en-US" sz="2400" b="1" i="1" dirty="0"/>
              <a:t>), Betas (β2))</a:t>
            </a:r>
          </a:p>
          <a:p>
            <a:pPr lvl="1"/>
            <a:r>
              <a:rPr lang="en-US" sz="2400" dirty="0"/>
              <a:t> </a:t>
            </a:r>
            <a:r>
              <a:rPr lang="en-US" sz="2200" dirty="0"/>
              <a:t>Historic Gradient scaling rate</a:t>
            </a:r>
          </a:p>
          <a:p>
            <a:r>
              <a:rPr lang="en-US" sz="2400" b="1" dirty="0"/>
              <a:t>Momentum (</a:t>
            </a:r>
            <a:r>
              <a:rPr lang="en-US" sz="2400" b="1" i="1" dirty="0"/>
              <a:t>momentum, Betas (β1))</a:t>
            </a:r>
          </a:p>
          <a:p>
            <a:pPr lvl="1"/>
            <a:r>
              <a:rPr lang="en-US" sz="2400" b="1" dirty="0"/>
              <a:t> </a:t>
            </a:r>
            <a:r>
              <a:rPr lang="en-US" sz="2200" dirty="0"/>
              <a:t>Historic Gradient adjustment rate</a:t>
            </a:r>
            <a:endParaRPr lang="en-US" sz="2200" b="1" dirty="0"/>
          </a:p>
          <a:p>
            <a:r>
              <a:rPr lang="en-US" sz="2400" b="1" dirty="0"/>
              <a:t>Epsilon (</a:t>
            </a:r>
            <a:r>
              <a:rPr lang="en-US" sz="2400" b="1" i="1" dirty="0"/>
              <a:t>eps, ε)</a:t>
            </a:r>
          </a:p>
          <a:p>
            <a:pPr lvl="1"/>
            <a:r>
              <a:rPr lang="en-US" sz="2400" b="1" i="1" dirty="0"/>
              <a:t> </a:t>
            </a:r>
            <a:r>
              <a:rPr lang="en-US" sz="2200" dirty="0"/>
              <a:t>Prevents zero division during gradient calculation</a:t>
            </a:r>
          </a:p>
          <a:p>
            <a:r>
              <a:rPr lang="en-US" sz="2400" b="1" dirty="0"/>
              <a:t>Weight Decay </a:t>
            </a:r>
            <a:r>
              <a:rPr lang="en-US" sz="2400" b="1" i="1" dirty="0"/>
              <a:t>(</a:t>
            </a:r>
            <a:r>
              <a:rPr lang="en-US" sz="2400" b="1" i="1" dirty="0" err="1"/>
              <a:t>weight_decay</a:t>
            </a:r>
            <a:r>
              <a:rPr lang="en-US" sz="2400" b="1" i="1" dirty="0"/>
              <a:t>)</a:t>
            </a:r>
          </a:p>
          <a:p>
            <a:pPr lvl="1"/>
            <a:r>
              <a:rPr lang="en-US" sz="2200" dirty="0"/>
              <a:t>Weight adjustment penalization </a:t>
            </a:r>
            <a:endParaRPr lang="en-US" sz="2200" b="1" dirty="0"/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682204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5B9BB-0377-D509-77D0-26C2B5905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22909"/>
          </a:xfrm>
        </p:spPr>
        <p:txBody>
          <a:bodyPr/>
          <a:lstStyle/>
          <a:p>
            <a:r>
              <a:rPr lang="en-US" dirty="0"/>
              <a:t>Algorithm-specific Parameters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40B6E96-6D1F-F164-13E2-AF2305F2F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303" y="1632155"/>
            <a:ext cx="3169750" cy="48178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RMSProp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Centered </a:t>
            </a:r>
            <a:r>
              <a:rPr lang="en-US" b="1" i="1" dirty="0"/>
              <a:t>(centered) </a:t>
            </a:r>
          </a:p>
          <a:p>
            <a:r>
              <a:rPr lang="en-US" i="1" dirty="0"/>
              <a:t>Applies a normalization to the gradients using variance estimation</a:t>
            </a:r>
          </a:p>
          <a:p>
            <a:r>
              <a:rPr lang="en-US" i="1" dirty="0"/>
              <a:t>Extra gradient calculation = more stable updates but more training time</a:t>
            </a:r>
          </a:p>
          <a:p>
            <a:endParaRPr lang="en-US" dirty="0"/>
          </a:p>
          <a:p>
            <a:endParaRPr lang="en-US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D824A2D-44AA-9155-2DF3-72BD7333D313}"/>
              </a:ext>
            </a:extLst>
          </p:cNvPr>
          <p:cNvSpPr txBox="1">
            <a:spLocks/>
          </p:cNvSpPr>
          <p:nvPr/>
        </p:nvSpPr>
        <p:spPr>
          <a:xfrm>
            <a:off x="4211677" y="1632155"/>
            <a:ext cx="3545398" cy="4817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/>
              <a:t>Adam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1600" b="1" dirty="0"/>
              <a:t>Decoupled Weight Decay</a:t>
            </a:r>
            <a:br>
              <a:rPr lang="en-US" sz="1600" b="1" dirty="0"/>
            </a:br>
            <a:r>
              <a:rPr lang="en-US" sz="1600" b="1" dirty="0"/>
              <a:t>(</a:t>
            </a:r>
            <a:r>
              <a:rPr lang="en-US" sz="1600" b="1" dirty="0" err="1"/>
              <a:t>decoupled_weight_decay</a:t>
            </a:r>
            <a:r>
              <a:rPr lang="en-US" sz="1600" b="1" dirty="0"/>
              <a:t>)</a:t>
            </a:r>
          </a:p>
          <a:p>
            <a:r>
              <a:rPr lang="en-US" i="1" dirty="0"/>
              <a:t>Uses the exact decoupled weight decay mechanism </a:t>
            </a:r>
            <a:r>
              <a:rPr lang="en-US" i="1" dirty="0" err="1"/>
              <a:t>AdamW</a:t>
            </a:r>
            <a:r>
              <a:rPr lang="en-US" i="1" dirty="0"/>
              <a:t> does</a:t>
            </a:r>
          </a:p>
          <a:p>
            <a:r>
              <a:rPr lang="en-US" i="1" dirty="0"/>
              <a:t>Added as an update 2019 onward after </a:t>
            </a:r>
            <a:r>
              <a:rPr lang="en-US" i="1" dirty="0" err="1"/>
              <a:t>AdamW</a:t>
            </a:r>
            <a:r>
              <a:rPr lang="en-US" i="1" dirty="0"/>
              <a:t> was established for backward compatibility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2D1CCE-1C95-0635-15CC-F0BC3B5538F1}"/>
              </a:ext>
            </a:extLst>
          </p:cNvPr>
          <p:cNvSpPr txBox="1">
            <a:spLocks/>
          </p:cNvSpPr>
          <p:nvPr/>
        </p:nvSpPr>
        <p:spPr>
          <a:xfrm>
            <a:off x="7868699" y="1632154"/>
            <a:ext cx="3635913" cy="4965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b="1" dirty="0" err="1"/>
              <a:t>AdamW</a:t>
            </a:r>
            <a:endParaRPr lang="en-US" sz="1600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Maximize (maximize)</a:t>
            </a:r>
          </a:p>
          <a:p>
            <a:r>
              <a:rPr lang="en-US" i="1" dirty="0"/>
              <a:t>Maximizes the losses instead of minimizing it (edge case</a:t>
            </a:r>
            <a:r>
              <a:rPr lang="en-US" dirty="0"/>
              <a:t>)</a:t>
            </a:r>
            <a:endParaRPr lang="en-US" b="1" dirty="0"/>
          </a:p>
          <a:p>
            <a:pPr marL="0" indent="0">
              <a:buNone/>
            </a:pPr>
            <a:r>
              <a:rPr lang="en-US" sz="1600" b="1" dirty="0"/>
              <a:t>Differentiable (differentiable)</a:t>
            </a:r>
          </a:p>
          <a:p>
            <a:r>
              <a:rPr lang="en-US" i="1" dirty="0"/>
              <a:t>Enables or disables </a:t>
            </a:r>
            <a:r>
              <a:rPr lang="en-US" i="1" dirty="0" err="1"/>
              <a:t>autograd</a:t>
            </a:r>
            <a:r>
              <a:rPr lang="en-US" i="1" dirty="0"/>
              <a:t> during training</a:t>
            </a:r>
          </a:p>
          <a:p>
            <a:r>
              <a:rPr lang="en-US" i="1" dirty="0"/>
              <a:t>Backpropagates  the optimizer math (</a:t>
            </a:r>
            <a:r>
              <a:rPr lang="en-US" i="1" dirty="0" err="1"/>
              <a:t>autograd</a:t>
            </a:r>
            <a:r>
              <a:rPr lang="en-US" i="1" dirty="0"/>
              <a:t>)</a:t>
            </a:r>
          </a:p>
          <a:p>
            <a:pPr marL="0" indent="0">
              <a:buNone/>
            </a:pPr>
            <a:r>
              <a:rPr lang="en-US" b="1" dirty="0"/>
              <a:t>Capturable (capturable)</a:t>
            </a:r>
          </a:p>
          <a:p>
            <a:r>
              <a:rPr lang="en-US" i="1" dirty="0"/>
              <a:t>Moves the tracking values operations into the GPU</a:t>
            </a:r>
          </a:p>
          <a:p>
            <a:pPr marL="0" indent="0">
              <a:buNone/>
            </a:pPr>
            <a:endParaRPr lang="en-US" sz="2800" b="1" dirty="0"/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64746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C17DB-472F-8A7F-62DB-47405F87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br>
              <a:rPr lang="en-US" dirty="0"/>
            </a:br>
            <a:r>
              <a:rPr lang="en-US" sz="2000" dirty="0"/>
              <a:t>Strategy &amp; Validation Protocol</a:t>
            </a:r>
            <a:endParaRPr lang="en-US" dirty="0"/>
          </a:p>
        </p:txBody>
      </p:sp>
      <p:pic>
        <p:nvPicPr>
          <p:cNvPr id="4" name="Google Shape;84;p13" descr="image.png">
            <a:extLst>
              <a:ext uri="{FF2B5EF4-FFF2-40B4-BE49-F238E27FC236}">
                <a16:creationId xmlns:a16="http://schemas.microsoft.com/office/drawing/2014/main" id="{D56AA958-64DF-78EF-83C2-87C81BD0B1D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58606" y="2109406"/>
            <a:ext cx="3198876" cy="37568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6;p13">
            <a:extLst>
              <a:ext uri="{FF2B5EF4-FFF2-40B4-BE49-F238E27FC236}">
                <a16:creationId xmlns:a16="http://schemas.microsoft.com/office/drawing/2014/main" id="{684F7BF5-6E73-A147-5737-96F3347F1A15}"/>
              </a:ext>
            </a:extLst>
          </p:cNvPr>
          <p:cNvSpPr txBox="1"/>
          <p:nvPr/>
        </p:nvSpPr>
        <p:spPr>
          <a:xfrm>
            <a:off x="2245614" y="1747615"/>
            <a:ext cx="58674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Systematic Tuning:</a:t>
            </a: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Employed a manual stepping approach for continuous/discrete variables, varying one parameter at a time from baseline defaults.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Google Shape;87;p13">
            <a:extLst>
              <a:ext uri="{FF2B5EF4-FFF2-40B4-BE49-F238E27FC236}">
                <a16:creationId xmlns:a16="http://schemas.microsoft.com/office/drawing/2014/main" id="{7C6FD0DC-6250-1650-C32A-2D7D76BDEC0D}"/>
              </a:ext>
            </a:extLst>
          </p:cNvPr>
          <p:cNvSpPr txBox="1"/>
          <p:nvPr/>
        </p:nvSpPr>
        <p:spPr>
          <a:xfrm>
            <a:off x="2245614" y="2928715"/>
            <a:ext cx="58674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Optuna Integration:</a:t>
            </a: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Leveraged automated continuous random sampling within defined parameter ranges specifically for RMSprop configurations.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8" name="Google Shape;88;p13">
            <a:extLst>
              <a:ext uri="{FF2B5EF4-FFF2-40B4-BE49-F238E27FC236}">
                <a16:creationId xmlns:a16="http://schemas.microsoft.com/office/drawing/2014/main" id="{F54D3AB5-503B-05A2-C4FE-156901547359}"/>
              </a:ext>
            </a:extLst>
          </p:cNvPr>
          <p:cNvSpPr txBox="1"/>
          <p:nvPr/>
        </p:nvSpPr>
        <p:spPr>
          <a:xfrm>
            <a:off x="2245614" y="4109815"/>
            <a:ext cx="58674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5-Fold Cross-Validation:</a:t>
            </a: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Partitioned the KMNIST set using sklearn's KFold to ensure robust performance metrics and prevent overfitting.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Google Shape;89;p13">
            <a:extLst>
              <a:ext uri="{FF2B5EF4-FFF2-40B4-BE49-F238E27FC236}">
                <a16:creationId xmlns:a16="http://schemas.microsoft.com/office/drawing/2014/main" id="{6ACCEF04-E08D-30A7-AF98-1548839A064D}"/>
              </a:ext>
            </a:extLst>
          </p:cNvPr>
          <p:cNvSpPr txBox="1"/>
          <p:nvPr/>
        </p:nvSpPr>
        <p:spPr>
          <a:xfrm>
            <a:off x="2245614" y="5290915"/>
            <a:ext cx="58674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State Isolation:</a:t>
            </a: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Maintained absolute independence by instantiating fresh model weights and fixed random seeds per CV iteration.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" name="Google Shape;90;p13" descr="image.png">
            <a:extLst>
              <a:ext uri="{FF2B5EF4-FFF2-40B4-BE49-F238E27FC236}">
                <a16:creationId xmlns:a16="http://schemas.microsoft.com/office/drawing/2014/main" id="{349CB081-9A74-6B13-1FC7-59259D0A33B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77656" y="2121408"/>
            <a:ext cx="3160776" cy="371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91;p13" descr="image.png">
            <a:extLst>
              <a:ext uri="{FF2B5EF4-FFF2-40B4-BE49-F238E27FC236}">
                <a16:creationId xmlns:a16="http://schemas.microsoft.com/office/drawing/2014/main" id="{B0353309-986E-7DC5-3B97-07E09C30290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9364" y="184518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92;p13" descr="image.png">
            <a:extLst>
              <a:ext uri="{FF2B5EF4-FFF2-40B4-BE49-F238E27FC236}">
                <a16:creationId xmlns:a16="http://schemas.microsoft.com/office/drawing/2014/main" id="{2076E903-349D-4FBB-9813-D19A60F2E3E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69364" y="3007011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93;p13" descr="image.png">
            <a:extLst>
              <a:ext uri="{FF2B5EF4-FFF2-40B4-BE49-F238E27FC236}">
                <a16:creationId xmlns:a16="http://schemas.microsoft.com/office/drawing/2014/main" id="{136423EA-59C4-C46A-2035-8C1AE3AC975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69364" y="4156107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94;p13" descr="image.png">
            <a:extLst>
              <a:ext uri="{FF2B5EF4-FFF2-40B4-BE49-F238E27FC236}">
                <a16:creationId xmlns:a16="http://schemas.microsoft.com/office/drawing/2014/main" id="{C512FD68-5381-18A9-5DBB-996F79541E4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69364" y="5353558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5937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69CAC-09CF-B2AF-41F4-DD6CFB807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A7367268-64B4-1B3C-F423-DFC25B45C46A}"/>
              </a:ext>
            </a:extLst>
          </p:cNvPr>
          <p:cNvSpPr/>
          <p:nvPr/>
        </p:nvSpPr>
        <p:spPr>
          <a:xfrm>
            <a:off x="8627554" y="2139696"/>
            <a:ext cx="3098102" cy="3511296"/>
          </a:xfrm>
          <a:prstGeom prst="roundRect">
            <a:avLst/>
          </a:prstGeom>
          <a:solidFill>
            <a:srgbClr val="766F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AE8380F2-C8A1-BB48-8C1C-054CD6C8A8B1}"/>
              </a:ext>
            </a:extLst>
          </p:cNvPr>
          <p:cNvSpPr/>
          <p:nvPr/>
        </p:nvSpPr>
        <p:spPr>
          <a:xfrm>
            <a:off x="4817554" y="2139696"/>
            <a:ext cx="3098102" cy="3511296"/>
          </a:xfrm>
          <a:prstGeom prst="roundRect">
            <a:avLst/>
          </a:prstGeom>
          <a:solidFill>
            <a:srgbClr val="766F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DCC6B898-7C39-62FA-27B9-DB8D8F4104D9}"/>
              </a:ext>
            </a:extLst>
          </p:cNvPr>
          <p:cNvSpPr/>
          <p:nvPr/>
        </p:nvSpPr>
        <p:spPr>
          <a:xfrm>
            <a:off x="1007554" y="2139696"/>
            <a:ext cx="3098102" cy="3511296"/>
          </a:xfrm>
          <a:prstGeom prst="roundRect">
            <a:avLst/>
          </a:prstGeom>
          <a:solidFill>
            <a:srgbClr val="766F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05FD11-BA40-0E71-B669-555A7172F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Methodology</a:t>
            </a:r>
            <a:br>
              <a:rPr lang="en-US" dirty="0"/>
            </a:br>
            <a:r>
              <a:rPr lang="en-US" sz="2000" dirty="0"/>
              <a:t>Execution &amp; Training Pipeline</a:t>
            </a:r>
            <a:endParaRPr lang="en-US" dirty="0"/>
          </a:p>
        </p:txBody>
      </p:sp>
      <p:sp>
        <p:nvSpPr>
          <p:cNvPr id="28" name="Google Shape;103;p14">
            <a:extLst>
              <a:ext uri="{FF2B5EF4-FFF2-40B4-BE49-F238E27FC236}">
                <a16:creationId xmlns:a16="http://schemas.microsoft.com/office/drawing/2014/main" id="{320ED2AD-A55B-A239-80ED-787F6BD892BA}"/>
              </a:ext>
            </a:extLst>
          </p:cNvPr>
          <p:cNvSpPr txBox="1"/>
          <p:nvPr/>
        </p:nvSpPr>
        <p:spPr>
          <a:xfrm>
            <a:off x="1350153" y="3324225"/>
            <a:ext cx="230028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Epoch Processing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9" name="Google Shape;104;p14">
            <a:extLst>
              <a:ext uri="{FF2B5EF4-FFF2-40B4-BE49-F238E27FC236}">
                <a16:creationId xmlns:a16="http://schemas.microsoft.com/office/drawing/2014/main" id="{B4B66577-5F65-4794-E09E-B7CFFE7D6F01}"/>
              </a:ext>
            </a:extLst>
          </p:cNvPr>
          <p:cNvSpPr txBox="1"/>
          <p:nvPr/>
        </p:nvSpPr>
        <p:spPr>
          <a:xfrm>
            <a:off x="1007554" y="3829050"/>
            <a:ext cx="28575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Engineered isolated functions for forward passing. Training modes handled loss, gradients, and weight updates, while evaluation modes generated clean metrics without modifying parameters.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0" name="Google Shape;105;p14">
            <a:extLst>
              <a:ext uri="{FF2B5EF4-FFF2-40B4-BE49-F238E27FC236}">
                <a16:creationId xmlns:a16="http://schemas.microsoft.com/office/drawing/2014/main" id="{9274452A-8B76-E97F-4235-8A175497EC08}"/>
              </a:ext>
            </a:extLst>
          </p:cNvPr>
          <p:cNvSpPr txBox="1"/>
          <p:nvPr/>
        </p:nvSpPr>
        <p:spPr>
          <a:xfrm>
            <a:off x="4980130" y="3324225"/>
            <a:ext cx="266033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Configuration Trials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1" name="Google Shape;106;p14">
            <a:extLst>
              <a:ext uri="{FF2B5EF4-FFF2-40B4-BE49-F238E27FC236}">
                <a16:creationId xmlns:a16="http://schemas.microsoft.com/office/drawing/2014/main" id="{4FF333A8-B0C6-BB3E-FEA1-A7449896467E}"/>
              </a:ext>
            </a:extLst>
          </p:cNvPr>
          <p:cNvSpPr txBox="1"/>
          <p:nvPr/>
        </p:nvSpPr>
        <p:spPr>
          <a:xfrm>
            <a:off x="4817554" y="3829050"/>
            <a:ext cx="28575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Built a reusable execution loop accepting optimizer types and configuration lists. Each permutation underwent strict validation to empirically identify the highest-performing parameters.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2" name="Google Shape;107;p14">
            <a:extLst>
              <a:ext uri="{FF2B5EF4-FFF2-40B4-BE49-F238E27FC236}">
                <a16:creationId xmlns:a16="http://schemas.microsoft.com/office/drawing/2014/main" id="{557B7F66-2F8E-B7C4-0AB2-0F5B5DE5D299}"/>
              </a:ext>
            </a:extLst>
          </p:cNvPr>
          <p:cNvSpPr txBox="1"/>
          <p:nvPr/>
        </p:nvSpPr>
        <p:spPr>
          <a:xfrm>
            <a:off x="9065165" y="3324225"/>
            <a:ext cx="211026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Final Evaluation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3" name="Google Shape;108;p14">
            <a:extLst>
              <a:ext uri="{FF2B5EF4-FFF2-40B4-BE49-F238E27FC236}">
                <a16:creationId xmlns:a16="http://schemas.microsoft.com/office/drawing/2014/main" id="{C890BA54-73BB-E97C-9EEE-1C5B3E12D07D}"/>
              </a:ext>
            </a:extLst>
          </p:cNvPr>
          <p:cNvSpPr txBox="1"/>
          <p:nvPr/>
        </p:nvSpPr>
        <p:spPr>
          <a:xfrm>
            <a:off x="8627554" y="3829050"/>
            <a:ext cx="28575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The optimal configurations for Adam,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AdamW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, and RMSprop executed a final 20-epoch training cycle against the entirely withheld KMNIST test dataset to synthesize final performance.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34" name="Google Shape;109;p14" descr="image.png">
            <a:extLst>
              <a:ext uri="{FF2B5EF4-FFF2-40B4-BE49-F238E27FC236}">
                <a16:creationId xmlns:a16="http://schemas.microsoft.com/office/drawing/2014/main" id="{07E4F633-E103-74DF-9C50-4A5BF887327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00109" y="2457450"/>
            <a:ext cx="46672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110;p14" descr="image.png">
            <a:extLst>
              <a:ext uri="{FF2B5EF4-FFF2-40B4-BE49-F238E27FC236}">
                <a16:creationId xmlns:a16="http://schemas.microsoft.com/office/drawing/2014/main" id="{6F84459F-78C1-4835-054F-614505624E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76772" y="2457450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111;p14" descr="image.png">
            <a:extLst>
              <a:ext uri="{FF2B5EF4-FFF2-40B4-BE49-F238E27FC236}">
                <a16:creationId xmlns:a16="http://schemas.microsoft.com/office/drawing/2014/main" id="{4B1D595E-1F6E-D8B4-D19A-4E6D43411DC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86772" y="2457450"/>
            <a:ext cx="533400" cy="533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7757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71610-8135-452B-7329-45845B227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FFB56-CC09-E264-7779-B28BF4E04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89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Interpretation &amp; Discussion</a:t>
            </a:r>
          </a:p>
        </p:txBody>
      </p:sp>
      <p:sp>
        <p:nvSpPr>
          <p:cNvPr id="519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74599" y="1602285"/>
            <a:ext cx="10630013" cy="4308938"/>
          </a:xfrm>
          <a:prstGeom prst="rect">
            <a:avLst/>
          </a:prstGeom>
        </p:spPr>
        <p:txBody>
          <a:bodyPr/>
          <a:lstStyle/>
          <a:p>
            <a:pPr marL="137160" indent="-137160" defTabSz="182880">
              <a:spcBef>
                <a:spcPts val="400"/>
              </a:spcBef>
              <a:defRPr sz="720"/>
            </a:pPr>
            <a:endParaRPr/>
          </a:p>
        </p:txBody>
      </p:sp>
      <p:pic>
        <p:nvPicPr>
          <p:cNvPr id="520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599" y="1602285"/>
            <a:ext cx="6221419" cy="4213734"/>
          </a:xfrm>
          <a:prstGeom prst="rect">
            <a:avLst/>
          </a:prstGeom>
          <a:ln w="12700">
            <a:miter lim="400000"/>
          </a:ln>
        </p:spPr>
      </p:pic>
      <p:sp>
        <p:nvSpPr>
          <p:cNvPr id="521" name="Adam, AdamW, and RMSprop (manual) performed virtually the same (~89.5–89.7% test accuracy) — among well-tuned adaptive optimizers, model design mattered more than optimizer choice…"/>
          <p:cNvSpPr txBox="1"/>
          <p:nvPr/>
        </p:nvSpPr>
        <p:spPr>
          <a:xfrm>
            <a:off x="7679801" y="1728597"/>
            <a:ext cx="3935737" cy="537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180473" indent="-180473">
              <a:spcBef>
                <a:spcPts val="1000"/>
              </a:spcBef>
              <a:buSzPct val="100000"/>
              <a:buChar char="•"/>
              <a:defRPr sz="1600">
                <a:solidFill>
                  <a:srgbClr val="595959"/>
                </a:solidFill>
              </a:defRPr>
            </a:pPr>
            <a:r>
              <a:t>Adam, AdamW, and RMSprop (manual) performed virtually the same (~89.5–89.7% test accuracy) — among well-tuned adaptive optimizers, model design mattered more than optimizer choice</a:t>
            </a:r>
          </a:p>
          <a:p>
            <a:pPr marL="180473" indent="-180473">
              <a:spcBef>
                <a:spcPts val="1000"/>
              </a:spcBef>
              <a:buSzPct val="100000"/>
              <a:buChar char="•"/>
              <a:defRPr sz="1600">
                <a:solidFill>
                  <a:srgbClr val="595959"/>
                </a:solidFill>
              </a:defRPr>
            </a:pPr>
            <a:r>
              <a:t>Optuna underperformed not due to a weaker algorithm, but because 5 trials and 20 epochs were insufficient for its search space — it was still converging when training stopped</a:t>
            </a:r>
          </a:p>
          <a:p>
            <a:pPr marL="180473" indent="-180473">
              <a:spcBef>
                <a:spcPts val="1000"/>
              </a:spcBef>
              <a:buSzPct val="100000"/>
              <a:buChar char="•"/>
              <a:defRPr sz="1600">
                <a:solidFill>
                  <a:srgbClr val="595959"/>
                </a:solidFill>
              </a:defRPr>
            </a:pPr>
            <a:r>
              <a:t>Given more trials and epochs, automated tuning has the potential to match or exceed manual search without relying on domain knowledge</a:t>
            </a:r>
          </a:p>
          <a:p>
            <a:pPr>
              <a:spcBef>
                <a:spcPts val="1000"/>
              </a:spcBef>
            </a:pPr>
            <a:endParaRPr/>
          </a:p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Conclusion</a:t>
            </a:r>
          </a:p>
        </p:txBody>
      </p:sp>
      <p:sp>
        <p:nvSpPr>
          <p:cNvPr id="524" name="Content Placeholder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60421" indent="-160421">
              <a:spcBef>
                <a:spcPts val="0"/>
              </a:spcBef>
              <a:buClrTx/>
              <a:buChar char="•"/>
              <a:defRPr sz="1600">
                <a:solidFill>
                  <a:srgbClr val="000000"/>
                </a:solidFill>
              </a:defRPr>
            </a:pPr>
            <a:r>
              <a:t>Adam, AdamW, and RMSprop (manual) reached virtually the same accuracy (~89.5–89.7%) — making RMSprop (manual) or AdamW the practical default for this type of task</a:t>
            </a:r>
          </a:p>
          <a:p>
            <a:pPr marL="0" indent="0">
              <a:spcBef>
                <a:spcPts val="0"/>
              </a:spcBef>
              <a:buClrTx/>
              <a:buSzTx/>
              <a:buNone/>
              <a:defRPr sz="1600">
                <a:solidFill>
                  <a:srgbClr val="000000"/>
                </a:solidFill>
              </a:defRPr>
            </a:pPr>
            <a:endParaRPr/>
          </a:p>
          <a:p>
            <a:pPr marL="160421" indent="-160421">
              <a:spcBef>
                <a:spcPts val="0"/>
              </a:spcBef>
              <a:buClrTx/>
              <a:buChar char="•"/>
              <a:defRPr sz="1600">
                <a:solidFill>
                  <a:srgbClr val="000000"/>
                </a:solidFill>
              </a:defRPr>
            </a:pPr>
            <a:r>
              <a:t>Optuna's lower score reflects a budget limitation, not a weaker algorithm — 5 trials across a 5-parameter space was too few; re-running with more trials and epochs would make the comparison fair</a:t>
            </a:r>
          </a:p>
          <a:p>
            <a:pPr marL="0" indent="0">
              <a:spcBef>
                <a:spcPts val="0"/>
              </a:spcBef>
              <a:buClrTx/>
              <a:buSzTx/>
              <a:buNone/>
              <a:defRPr sz="1600">
                <a:solidFill>
                  <a:srgbClr val="000000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966DD2F-FBF5-41CE-A3F4-565352D95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915CEC-D42A-F3A4-173C-048714C40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US" dirty="0"/>
              <a:t>Limitations &amp; Next Steps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6FCE2B-F2D2-466E-B0AA-8E341DB49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Freeform 11">
            <a:extLst>
              <a:ext uri="{FF2B5EF4-FFF2-40B4-BE49-F238E27FC236}">
                <a16:creationId xmlns:a16="http://schemas.microsoft.com/office/drawing/2014/main" id="{2BD31C98-199A-4722-A1A5-4393A43E7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65A3BB-0A7C-0A13-AA85-FC68F46370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1251317"/>
              </p:ext>
            </p:extLst>
          </p:nvPr>
        </p:nvGraphicFramePr>
        <p:xfrm>
          <a:off x="1794897" y="2222983"/>
          <a:ext cx="8987404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6722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3030214-227F-42DB-9282-BBA6AF8D9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65429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C7A964-4E2A-6126-DF8E-7BD45E01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889" y="1059872"/>
            <a:ext cx="3012216" cy="4851349"/>
          </a:xfrm>
        </p:spPr>
        <p:txBody>
          <a:bodyPr>
            <a:normAutofit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0D7A9289-BAD1-4A78-979F-A655C886D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1149203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30E8E-D06C-ADE7-9F42-AC79E9281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0368" y="1059872"/>
            <a:ext cx="6224244" cy="4851350"/>
          </a:xfrm>
        </p:spPr>
        <p:txBody>
          <a:bodyPr>
            <a:normAutofit/>
          </a:bodyPr>
          <a:lstStyle/>
          <a:p>
            <a:pPr fontAlgn="base">
              <a:lnSpc>
                <a:spcPct val="90000"/>
              </a:lnSpc>
            </a:pPr>
            <a:r>
              <a:rPr lang="en-US" sz="1000" u="sng" dirty="0"/>
              <a:t>Kingma, D. P., &amp; Ba, J. (2015). Adam: A method for stochastic optimization. </a:t>
            </a:r>
            <a:r>
              <a:rPr lang="en-US" sz="1000" i="1" u="sng" dirty="0"/>
              <a:t>Proceedings of the 3rd International Conference on Learning Representations (ICLR 2015)</a:t>
            </a:r>
            <a:r>
              <a:rPr lang="en-US" sz="1000" u="sng" dirty="0"/>
              <a:t>. </a:t>
            </a:r>
            <a:r>
              <a:rPr lang="en-US" sz="10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https://arxiv.org/abs/1412.6980</a:t>
            </a:r>
            <a:endParaRPr lang="en-US" sz="1000" u="sng" dirty="0"/>
          </a:p>
          <a:p>
            <a:pPr fontAlgn="base">
              <a:lnSpc>
                <a:spcPct val="90000"/>
              </a:lnSpc>
            </a:pPr>
            <a:r>
              <a:rPr lang="en-US" sz="1000" u="sng" dirty="0"/>
              <a:t>Loshchilov, I., &amp; Hutter, F. (2019). Decoupled weight decay regularization. </a:t>
            </a:r>
            <a:r>
              <a:rPr lang="en-US" sz="1000" i="1" u="sng" dirty="0"/>
              <a:t>Proceedings of the 7th International Conference on Learning Representations (ICLR 2019)</a:t>
            </a:r>
            <a:r>
              <a:rPr lang="en-US" sz="1000" u="sng" dirty="0"/>
              <a:t>. </a:t>
            </a:r>
            <a:r>
              <a:rPr lang="en-US" sz="1000" u="sng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https://arxiv.org/abs/1711.05101</a:t>
            </a:r>
            <a:endParaRPr lang="en-US" sz="1000" u="sng" dirty="0"/>
          </a:p>
          <a:p>
            <a:pPr fontAlgn="base">
              <a:lnSpc>
                <a:spcPct val="90000"/>
              </a:lnSpc>
            </a:pPr>
            <a:r>
              <a:rPr lang="en-US" sz="1000" u="sng" dirty="0"/>
              <a:t>Tieleman, T., &amp; Hinton, G. (2012). Lecture 6.5 - </a:t>
            </a:r>
            <a:r>
              <a:rPr lang="en-US" sz="1000" u="sng" dirty="0" err="1"/>
              <a:t>RMSProp</a:t>
            </a:r>
            <a:r>
              <a:rPr lang="en-US" sz="1000" u="sng" dirty="0"/>
              <a:t>. </a:t>
            </a:r>
            <a:r>
              <a:rPr lang="en-US" sz="1000" i="1" u="sng" dirty="0"/>
              <a:t>COURSERA: Neural Networks for Machine Learning</a:t>
            </a:r>
            <a:r>
              <a:rPr lang="en-US" sz="1000" u="sng" dirty="0"/>
              <a:t>. </a:t>
            </a:r>
            <a:r>
              <a:rPr lang="en-US" sz="1000" u="sng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https://www.cs.toronto.edu/~tijmen/csc321/slides/lecture_slides_lec6.pdf</a:t>
            </a:r>
            <a:endParaRPr lang="en-US" sz="1000" u="sng" dirty="0"/>
          </a:p>
          <a:p>
            <a:pPr fontAlgn="base">
              <a:lnSpc>
                <a:spcPct val="90000"/>
              </a:lnSpc>
            </a:pPr>
            <a:r>
              <a:rPr lang="en-US" sz="1000" u="sng" dirty="0" err="1"/>
              <a:t>Clanuwat</a:t>
            </a:r>
            <a:r>
              <a:rPr lang="en-US" sz="1000" u="sng" dirty="0"/>
              <a:t>, T., Bober-Irizar, M., </a:t>
            </a:r>
            <a:r>
              <a:rPr lang="en-US" sz="1000" u="sng" dirty="0" err="1"/>
              <a:t>Kitamoto</a:t>
            </a:r>
            <a:r>
              <a:rPr lang="en-US" sz="1000" u="sng" dirty="0"/>
              <a:t>, A., Lamb, A., Yamamoto, K., &amp; Ha, D. (2018). Deep learning for classical Japanese literature. </a:t>
            </a:r>
            <a:r>
              <a:rPr lang="en-US" sz="1000" i="1" u="sng" dirty="0" err="1"/>
              <a:t>NeurIPS</a:t>
            </a:r>
            <a:r>
              <a:rPr lang="en-US" sz="1000" i="1" u="sng" dirty="0"/>
              <a:t> 2018 Workshop on Machine Learning for Creativity and Design</a:t>
            </a:r>
            <a:r>
              <a:rPr lang="en-US" sz="1000" u="sng" dirty="0"/>
              <a:t>. </a:t>
            </a:r>
            <a:r>
              <a:rPr lang="en-US" sz="1000" u="sng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https://arxiv.org/abs/1812.01718</a:t>
            </a:r>
            <a:endParaRPr lang="en-US" sz="1000" u="sng" dirty="0"/>
          </a:p>
          <a:p>
            <a:pPr fontAlgn="base">
              <a:lnSpc>
                <a:spcPct val="90000"/>
              </a:lnSpc>
            </a:pPr>
            <a:r>
              <a:rPr lang="en-US" sz="1000" i="1" u="sng" dirty="0" err="1"/>
              <a:t>RMSProp</a:t>
            </a:r>
            <a:r>
              <a:rPr lang="en-US" sz="1000" i="1" u="sng" dirty="0"/>
              <a:t> Documentation,</a:t>
            </a:r>
            <a:r>
              <a:rPr lang="en-US" sz="1000" u="sng" dirty="0"/>
              <a:t> </a:t>
            </a:r>
            <a:r>
              <a:rPr lang="en-US" sz="1000" u="sng" dirty="0" err="1"/>
              <a:t>pytorch.org</a:t>
            </a:r>
            <a:r>
              <a:rPr lang="en-US" sz="1000" u="sng" dirty="0"/>
              <a:t> </a:t>
            </a:r>
            <a:r>
              <a:rPr lang="en-US" sz="1000" u="sng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https://docs.pytorch.org/docs/2.12/generated/torch.optim.RMSprop.html</a:t>
            </a:r>
            <a:r>
              <a:rPr lang="en-US" sz="1000" u="sng" dirty="0"/>
              <a:t> </a:t>
            </a:r>
          </a:p>
          <a:p>
            <a:pPr fontAlgn="base">
              <a:lnSpc>
                <a:spcPct val="90000"/>
              </a:lnSpc>
            </a:pPr>
            <a:r>
              <a:rPr lang="en-US" sz="1000" i="1" u="sng" dirty="0" err="1"/>
              <a:t>RMSProp</a:t>
            </a:r>
            <a:r>
              <a:rPr lang="en-US" sz="1000" i="1" u="sng" dirty="0"/>
              <a:t> Optimizer in Deep Learning</a:t>
            </a:r>
            <a:r>
              <a:rPr lang="en-US" sz="1000" u="sng" dirty="0"/>
              <a:t>, </a:t>
            </a:r>
            <a:r>
              <a:rPr lang="en-US" sz="1000" u="sng" dirty="0" err="1"/>
              <a:t>geeksforgeeks.org</a:t>
            </a:r>
            <a:r>
              <a:rPr lang="en-US" sz="1000" u="sng" dirty="0"/>
              <a:t>, </a:t>
            </a:r>
            <a:r>
              <a:rPr lang="en-US" sz="1000" u="sng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https://www.geeksforgeeks.org/deep-learning/rmsprop-optimizer-in-deep-learning/</a:t>
            </a:r>
            <a:r>
              <a:rPr lang="en-US" sz="1000" u="sng" dirty="0"/>
              <a:t> </a:t>
            </a:r>
          </a:p>
          <a:p>
            <a:pPr fontAlgn="base">
              <a:lnSpc>
                <a:spcPct val="90000"/>
              </a:lnSpc>
            </a:pPr>
            <a:r>
              <a:rPr lang="en-US" sz="1000" i="1" u="sng" dirty="0"/>
              <a:t>Lecture Notes</a:t>
            </a:r>
            <a:r>
              <a:rPr lang="en-US" sz="1000" u="sng" dirty="0"/>
              <a:t>, Hinton, G. (2012). Lecture 6e, Coursera. </a:t>
            </a:r>
            <a:r>
              <a:rPr lang="en-US" sz="1000" u="sng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https://www.cs.toronto.edu/~tijmen/csc321/slides/lecture_slides_lec6.pdf</a:t>
            </a:r>
            <a:endParaRPr lang="en-US" sz="1000" u="sng" dirty="0"/>
          </a:p>
          <a:p>
            <a:pPr fontAlgn="base">
              <a:lnSpc>
                <a:spcPct val="90000"/>
              </a:lnSpc>
            </a:pPr>
            <a:r>
              <a:rPr lang="en-US" sz="1000" i="1" u="sng" dirty="0"/>
              <a:t>Generating Sequences with Recurrent Neural Networks</a:t>
            </a:r>
            <a:r>
              <a:rPr lang="en-US" sz="1000" u="sng" dirty="0"/>
              <a:t>, Alex Graves, Department of Computer Science University of Toronto </a:t>
            </a:r>
            <a:r>
              <a:rPr lang="en-US" sz="1000" u="sng" dirty="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https://arxiv.org/pdf/1308.0850v5</a:t>
            </a:r>
            <a:endParaRPr lang="en-US" sz="1000" u="sng" dirty="0"/>
          </a:p>
          <a:p>
            <a:pPr fontAlgn="base">
              <a:lnSpc>
                <a:spcPct val="90000"/>
              </a:lnSpc>
            </a:pPr>
            <a:r>
              <a:rPr lang="en-US" sz="1000" i="1" u="sng" dirty="0"/>
              <a:t>Understanding Loss Surfaces</a:t>
            </a:r>
            <a:r>
              <a:rPr lang="en-US" sz="1000" b="1" u="sng" dirty="0"/>
              <a:t>, </a:t>
            </a:r>
            <a:r>
              <a:rPr lang="en-US" sz="1000" u="sng" dirty="0" err="1"/>
              <a:t>apxml.com</a:t>
            </a:r>
            <a:r>
              <a:rPr lang="en-US" sz="1000" b="1" u="sng" dirty="0"/>
              <a:t>, </a:t>
            </a:r>
            <a:r>
              <a:rPr lang="en-US" sz="1000" u="sng" dirty="0"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https://apxml.com/courses/optimization-techniques-ml/chapter-1-ml-optimization-foundations-review/loss-surface-analysis</a:t>
            </a:r>
            <a:r>
              <a:rPr lang="en-US" sz="1000" u="sng" dirty="0"/>
              <a:t> </a:t>
            </a:r>
          </a:p>
          <a:p>
            <a:pPr fontAlgn="base">
              <a:lnSpc>
                <a:spcPct val="90000"/>
              </a:lnSpc>
            </a:pPr>
            <a:r>
              <a:rPr lang="en-US" sz="1000" u="sng" dirty="0" err="1"/>
              <a:t>PyTorch</a:t>
            </a:r>
            <a:r>
              <a:rPr lang="en-US" sz="1000" u="sng" dirty="0"/>
              <a:t>. (n.d.). </a:t>
            </a:r>
            <a:r>
              <a:rPr lang="en-US" sz="1000" i="1" u="sng" dirty="0" err="1"/>
              <a:t>AdamW</a:t>
            </a:r>
            <a:r>
              <a:rPr lang="en-US" sz="1000" i="1" u="sng" dirty="0"/>
              <a:t> — </a:t>
            </a:r>
            <a:r>
              <a:rPr lang="en-US" sz="1000" i="1" u="sng" dirty="0" err="1"/>
              <a:t>PyTorch</a:t>
            </a:r>
            <a:r>
              <a:rPr lang="en-US" sz="1000" i="1" u="sng" dirty="0"/>
              <a:t> 2.12 documentation</a:t>
            </a:r>
            <a:r>
              <a:rPr lang="en-US" sz="1000" u="sng" dirty="0"/>
              <a:t>. </a:t>
            </a:r>
            <a:r>
              <a:rPr lang="en-US" sz="1000" u="sng" dirty="0" err="1"/>
              <a:t>PyTorch</a:t>
            </a:r>
            <a:r>
              <a:rPr lang="en-US" sz="1000" u="sng" dirty="0"/>
              <a:t> Foundation. Retrieved      June 21, 2026, from </a:t>
            </a:r>
            <a:r>
              <a:rPr lang="en-US" sz="1000" u="sng" dirty="0"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https://docs.pytorch.org/docs/2.12/generated/torch.optim.AdamW.html</a:t>
            </a:r>
            <a:endParaRPr lang="en-US" sz="1000" u="sng" dirty="0"/>
          </a:p>
          <a:p>
            <a:pPr>
              <a:lnSpc>
                <a:spcPct val="90000"/>
              </a:lnSpc>
            </a:pPr>
            <a:endParaRPr lang="en-US" sz="1000" u="sng" dirty="0"/>
          </a:p>
        </p:txBody>
      </p:sp>
    </p:spTree>
    <p:extLst>
      <p:ext uri="{BB962C8B-B14F-4D97-AF65-F5344CB8AC3E}">
        <p14:creationId xmlns:p14="http://schemas.microsoft.com/office/powerpoint/2010/main" val="4111064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Freeform 6">
            <a:extLst>
              <a:ext uri="{FF2B5EF4-FFF2-40B4-BE49-F238E27FC236}">
                <a16:creationId xmlns:a16="http://schemas.microsoft.com/office/drawing/2014/main" id="{7BD08880-457D-4C62-A3B5-6A9B0878C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0BC7D22A-3C31-4046-A4DD-443AA6A6D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8D5C6AE-ED4F-4CBA-A76C-9B5FB0DB0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87364" y="228600"/>
            <a:ext cx="2851523" cy="6638625"/>
            <a:chOff x="2487613" y="285750"/>
            <a:chExt cx="2428875" cy="5654676"/>
          </a:xfrm>
        </p:grpSpPr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41ED80F9-2570-4956-B71C-46595B604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7C5A4893-9CCD-46F0-98BD-3FECFB7A53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B589D522-7164-489B-A975-33CA327F48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4">
              <a:extLst>
                <a:ext uri="{FF2B5EF4-FFF2-40B4-BE49-F238E27FC236}">
                  <a16:creationId xmlns:a16="http://schemas.microsoft.com/office/drawing/2014/main" id="{B4F85399-8692-43F0-85D1-67ED7CB40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5">
              <a:extLst>
                <a:ext uri="{FF2B5EF4-FFF2-40B4-BE49-F238E27FC236}">
                  <a16:creationId xmlns:a16="http://schemas.microsoft.com/office/drawing/2014/main" id="{B53E62C1-3FF0-40F9-ADBB-08E0BFBC58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id="{FF121ACB-BC0C-4DFA-B382-25B79E784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7">
              <a:extLst>
                <a:ext uri="{FF2B5EF4-FFF2-40B4-BE49-F238E27FC236}">
                  <a16:creationId xmlns:a16="http://schemas.microsoft.com/office/drawing/2014/main" id="{A58394D9-3789-4BEA-A789-FEA079072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8">
              <a:extLst>
                <a:ext uri="{FF2B5EF4-FFF2-40B4-BE49-F238E27FC236}">
                  <a16:creationId xmlns:a16="http://schemas.microsoft.com/office/drawing/2014/main" id="{E1BAAD7A-4A6B-4557-BFDD-0F30D8E9AE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19">
              <a:extLst>
                <a:ext uri="{FF2B5EF4-FFF2-40B4-BE49-F238E27FC236}">
                  <a16:creationId xmlns:a16="http://schemas.microsoft.com/office/drawing/2014/main" id="{5B105CAF-1476-4DB5-AB48-0840BB2575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20">
              <a:extLst>
                <a:ext uri="{FF2B5EF4-FFF2-40B4-BE49-F238E27FC236}">
                  <a16:creationId xmlns:a16="http://schemas.microsoft.com/office/drawing/2014/main" id="{7D1B070A-B475-4F8E-BCA1-FDF0346E77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21">
              <a:extLst>
                <a:ext uri="{FF2B5EF4-FFF2-40B4-BE49-F238E27FC236}">
                  <a16:creationId xmlns:a16="http://schemas.microsoft.com/office/drawing/2014/main" id="{192B1344-7B9B-4BC9-B560-D3EC9ECDD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22">
              <a:extLst>
                <a:ext uri="{FF2B5EF4-FFF2-40B4-BE49-F238E27FC236}">
                  <a16:creationId xmlns:a16="http://schemas.microsoft.com/office/drawing/2014/main" id="{29C35314-956E-4521-9A13-980A05FCC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0C717BE-60B6-5559-8C73-D6B294922A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78" r="5369"/>
          <a:stretch>
            <a:fillRect/>
          </a:stretch>
        </p:blipFill>
        <p:spPr>
          <a:xfrm>
            <a:off x="1" y="10"/>
            <a:ext cx="6100402" cy="6857990"/>
          </a:xfrm>
          <a:prstGeom prst="rect">
            <a:avLst/>
          </a:prstGeom>
        </p:spPr>
      </p:pic>
      <p:grpSp>
        <p:nvGrpSpPr>
          <p:cNvPr id="89" name="Group 88">
            <a:extLst>
              <a:ext uri="{FF2B5EF4-FFF2-40B4-BE49-F238E27FC236}">
                <a16:creationId xmlns:a16="http://schemas.microsoft.com/office/drawing/2014/main" id="{12A59AA7-650F-4999-9CA5-376654289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14579" y="-786"/>
            <a:ext cx="2356675" cy="6854040"/>
            <a:chOff x="6627813" y="194833"/>
            <a:chExt cx="1952625" cy="5678918"/>
          </a:xfrm>
        </p:grpSpPr>
        <p:sp>
          <p:nvSpPr>
            <p:cNvPr id="90" name="Freeform 27">
              <a:extLst>
                <a:ext uri="{FF2B5EF4-FFF2-40B4-BE49-F238E27FC236}">
                  <a16:creationId xmlns:a16="http://schemas.microsoft.com/office/drawing/2014/main" id="{D46E80DF-1070-4942-8D8C-68B2687898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8">
              <a:extLst>
                <a:ext uri="{FF2B5EF4-FFF2-40B4-BE49-F238E27FC236}">
                  <a16:creationId xmlns:a16="http://schemas.microsoft.com/office/drawing/2014/main" id="{4EC4F99E-13A3-4C47-B6BE-5A3F5EB21C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29">
              <a:extLst>
                <a:ext uri="{FF2B5EF4-FFF2-40B4-BE49-F238E27FC236}">
                  <a16:creationId xmlns:a16="http://schemas.microsoft.com/office/drawing/2014/main" id="{45E840C0-D999-43D6-B94B-C7CBCAC9E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30">
              <a:extLst>
                <a:ext uri="{FF2B5EF4-FFF2-40B4-BE49-F238E27FC236}">
                  <a16:creationId xmlns:a16="http://schemas.microsoft.com/office/drawing/2014/main" id="{10685953-9653-4CA1-8B8A-96E8B6CEC1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31">
              <a:extLst>
                <a:ext uri="{FF2B5EF4-FFF2-40B4-BE49-F238E27FC236}">
                  <a16:creationId xmlns:a16="http://schemas.microsoft.com/office/drawing/2014/main" id="{09D300D0-C755-4A21-8A66-E7C43DB5BC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32">
              <a:extLst>
                <a:ext uri="{FF2B5EF4-FFF2-40B4-BE49-F238E27FC236}">
                  <a16:creationId xmlns:a16="http://schemas.microsoft.com/office/drawing/2014/main" id="{67F70228-CC75-473D-9220-52CFBB91C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33">
              <a:extLst>
                <a:ext uri="{FF2B5EF4-FFF2-40B4-BE49-F238E27FC236}">
                  <a16:creationId xmlns:a16="http://schemas.microsoft.com/office/drawing/2014/main" id="{DD04006F-1DA1-4640-8CB4-F36CB441E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34">
              <a:extLst>
                <a:ext uri="{FF2B5EF4-FFF2-40B4-BE49-F238E27FC236}">
                  <a16:creationId xmlns:a16="http://schemas.microsoft.com/office/drawing/2014/main" id="{BB29BE4A-FA75-43BE-B406-32F311B4CA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35">
              <a:extLst>
                <a:ext uri="{FF2B5EF4-FFF2-40B4-BE49-F238E27FC236}">
                  <a16:creationId xmlns:a16="http://schemas.microsoft.com/office/drawing/2014/main" id="{EDC9D240-B519-46A8-9E00-9F11AF02ED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36">
              <a:extLst>
                <a:ext uri="{FF2B5EF4-FFF2-40B4-BE49-F238E27FC236}">
                  <a16:creationId xmlns:a16="http://schemas.microsoft.com/office/drawing/2014/main" id="{F6F6A2F8-D301-4B55-8AF7-F6B6ECC128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37">
              <a:extLst>
                <a:ext uri="{FF2B5EF4-FFF2-40B4-BE49-F238E27FC236}">
                  <a16:creationId xmlns:a16="http://schemas.microsoft.com/office/drawing/2014/main" id="{364CB1D7-4A03-4305-86B4-9BF39D906D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38">
              <a:extLst>
                <a:ext uri="{FF2B5EF4-FFF2-40B4-BE49-F238E27FC236}">
                  <a16:creationId xmlns:a16="http://schemas.microsoft.com/office/drawing/2014/main" id="{F6AB9314-140A-41AE-BC1C-1EE29670F7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E7D5AD-EF12-3820-167E-7022D2CFC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4602" y="935646"/>
            <a:ext cx="3181597" cy="384173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Questions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1268182-6E4D-42DF-81E8-EF1F829BC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7355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3" name="Freeform 33">
            <a:extLst>
              <a:ext uri="{FF2B5EF4-FFF2-40B4-BE49-F238E27FC236}">
                <a16:creationId xmlns:a16="http://schemas.microsoft.com/office/drawing/2014/main" id="{6292912F-F5FC-4001-9EA1-927D886F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087355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4160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1_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207</TotalTime>
  <Words>1098</Words>
  <Application>Microsoft Macintosh PowerPoint</Application>
  <PresentationFormat>Widescreen</PresentationFormat>
  <Paragraphs>119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Century Gothic</vt:lpstr>
      <vt:lpstr>DM Sans</vt:lpstr>
      <vt:lpstr>Merriweather</vt:lpstr>
      <vt:lpstr>Wingdings 3</vt:lpstr>
      <vt:lpstr>Wisp</vt:lpstr>
      <vt:lpstr>1_Wisp</vt:lpstr>
      <vt:lpstr>A Tale of Three Optimizers</vt:lpstr>
      <vt:lpstr>Introduction</vt:lpstr>
      <vt:lpstr>Dataset</vt:lpstr>
      <vt:lpstr>Model Architecture</vt:lpstr>
      <vt:lpstr>Optimizers</vt:lpstr>
      <vt:lpstr>Common Parameters</vt:lpstr>
      <vt:lpstr>Algorithm-specific Parameters</vt:lpstr>
      <vt:lpstr>Methodology Strategy &amp; Validation Protocol</vt:lpstr>
      <vt:lpstr>Methodology Execution &amp; Training Pipeline</vt:lpstr>
      <vt:lpstr>Results</vt:lpstr>
      <vt:lpstr>Interpretation &amp; Discussion</vt:lpstr>
      <vt:lpstr>Conclusion</vt:lpstr>
      <vt:lpstr>Limitations &amp; Next Steps</vt:lpstr>
      <vt:lpstr>References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Yao-Fu Yang</dc:creator>
  <cp:lastModifiedBy>Yao-Fu Yang</cp:lastModifiedBy>
  <cp:revision>17</cp:revision>
  <dcterms:created xsi:type="dcterms:W3CDTF">2026-06-21T00:23:36Z</dcterms:created>
  <dcterms:modified xsi:type="dcterms:W3CDTF">2026-06-22T06:33:16Z</dcterms:modified>
</cp:coreProperties>
</file>