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1" r:id="rId9"/>
    <p:sldId id="262" r:id="rId10"/>
    <p:sldId id="263" r:id="rId11"/>
    <p:sldId id="264" r:id="rId12"/>
    <p:sldId id="265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8"/>
    <p:restoredTop sz="94652"/>
  </p:normalViewPr>
  <p:slideViewPr>
    <p:cSldViewPr snapToGrid="0">
      <p:cViewPr varScale="1">
        <p:scale>
          <a:sx n="65" d="100"/>
          <a:sy n="65" d="100"/>
        </p:scale>
        <p:origin x="4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7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31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6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66AFD431-09B7-42CA-BF39-9FE5DBE53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711C96E-3D2D-48C8-AAB9-C1CB02D1D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accent1">
              <a:alpha val="30000"/>
            </a:schemeClr>
          </a:solidFill>
        </p:grpSpPr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0D18AF42-7CD5-4754-91D4-1BE53B5D1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A28C8F1A-9407-4D67-8250-D8923BC6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5CE0A2B0-F7F1-442C-A287-CD6F729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E69CFA3-AE12-4EAF-A3A1-564BEEFEF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ECB64037-2AE8-4CA9-AD8E-7ACC8618F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8D319B10-EE8E-453F-A137-D7EEFA208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3283F486-509C-4A42-8EED-794A991D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EBBFBB12-E756-4386-9C17-CA5743838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7ADD0E7E-F4A6-4B3F-8A2F-BCBFAFBA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C19FCFB7-5E71-4197-8EC7-2ACB6DB02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EAA533FE-4903-48DD-A921-421A9C44A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54CC5D8E-0D6C-4021-B84E-5D6182C0E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BEBE261-3799-DA1A-1A5B-6DA3845DC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9756" y="1159566"/>
            <a:ext cx="3662939" cy="4568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A Tale of Three Optimizers</a:t>
            </a:r>
          </a:p>
        </p:txBody>
      </p:sp>
      <p:sp>
        <p:nvSpPr>
          <p:cNvPr id="164" name="Freeform 6">
            <a:extLst>
              <a:ext uri="{FF2B5EF4-FFF2-40B4-BE49-F238E27FC236}">
                <a16:creationId xmlns:a16="http://schemas.microsoft.com/office/drawing/2014/main" id="{E7D63BAB-D0DB-4F66-92F9-4D2E0A2E5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643468"/>
            <a:ext cx="7560245" cy="5571066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214B3-8D4B-C27C-DEAF-5FCBB2A68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310" y="1286934"/>
            <a:ext cx="5292436" cy="428413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AIGC 5500 0NA | Advanced Deep Learning</a:t>
            </a:r>
          </a:p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Team: </a:t>
            </a:r>
            <a:r>
              <a:rPr lang="en-US" dirty="0" err="1">
                <a:solidFill>
                  <a:srgbClr val="FFFFFF"/>
                </a:solidFill>
              </a:rPr>
              <a:t>HawkAI</a:t>
            </a:r>
            <a:r>
              <a:rPr lang="en-US" dirty="0">
                <a:solidFill>
                  <a:srgbClr val="FFFFFF"/>
                </a:solidFill>
              </a:rPr>
              <a:t> Detection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Kevin Joseff Cabrera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Mohd Mujtaba </a:t>
            </a:r>
            <a:r>
              <a:rPr lang="en-US" dirty="0" err="1">
                <a:solidFill>
                  <a:srgbClr val="FFFFFF"/>
                </a:solidFill>
              </a:rPr>
              <a:t>Saighani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Thiago </a:t>
            </a:r>
            <a:r>
              <a:rPr lang="en-US" dirty="0" err="1">
                <a:solidFill>
                  <a:srgbClr val="FFFFFF"/>
                </a:solidFill>
              </a:rPr>
              <a:t>Segantini</a:t>
            </a:r>
            <a:r>
              <a:rPr lang="en-US" dirty="0">
                <a:solidFill>
                  <a:srgbClr val="FFFFFF"/>
                </a:solidFill>
              </a:rPr>
              <a:t> Nogueira</a:t>
            </a:r>
          </a:p>
          <a:p>
            <a:pPr lvl="1" algn="l">
              <a:buFont typeface="Wingdings 3" charset="2"/>
              <a:buChar char=""/>
            </a:pPr>
            <a:r>
              <a:rPr lang="en-US" dirty="0" err="1">
                <a:solidFill>
                  <a:srgbClr val="FFFFFF"/>
                </a:solidFill>
              </a:rPr>
              <a:t>Sayamon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Sittiprom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Yao-Fu Yang</a:t>
            </a:r>
          </a:p>
        </p:txBody>
      </p:sp>
    </p:spTree>
    <p:extLst>
      <p:ext uri="{BB962C8B-B14F-4D97-AF65-F5344CB8AC3E}">
        <p14:creationId xmlns:p14="http://schemas.microsoft.com/office/powerpoint/2010/main" val="19995109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0215E-F2DA-9E83-A0F1-248CBD2F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7ECC-DCCE-7FC5-552F-544D85F73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89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DB7D-BABD-4305-E363-B36CA3BA0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5C85-DD63-C3E7-3E7A-883AE68F4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57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22C6-F4C7-DF7B-46FE-302147DE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6AB5A-28DB-1E22-7E0F-CB090D923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1195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EDD7-EF1E-1326-F6AA-C44E3892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D9930-5028-B259-C029-418590199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632155"/>
            <a:ext cx="3392999" cy="3320846"/>
          </a:xfrm>
        </p:spPr>
        <p:txBody>
          <a:bodyPr>
            <a:normAutofit/>
          </a:bodyPr>
          <a:lstStyle/>
          <a:p>
            <a:r>
              <a:rPr lang="en-US" sz="2800" b="1" dirty="0"/>
              <a:t>RMSProp</a:t>
            </a:r>
          </a:p>
          <a:p>
            <a:r>
              <a:rPr lang="en-US" b="1" dirty="0"/>
              <a:t>Root Mean Square Prop</a:t>
            </a:r>
            <a:r>
              <a:rPr lang="en-US" dirty="0"/>
              <a:t>agation</a:t>
            </a:r>
          </a:p>
          <a:p>
            <a:r>
              <a:rPr lang="en-US" dirty="0"/>
              <a:t>Jeffrey Hinton during a lecture, 2012</a:t>
            </a:r>
          </a:p>
          <a:p>
            <a:r>
              <a:rPr lang="en-US" dirty="0"/>
              <a:t>SGD &amp; ADA with improved learning rate</a:t>
            </a:r>
          </a:p>
          <a:p>
            <a:r>
              <a:rPr lang="en-US" b="1" dirty="0"/>
              <a:t>Sliding window </a:t>
            </a:r>
            <a:r>
              <a:rPr lang="en-US" dirty="0"/>
              <a:t>for past gradients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5D3F2-5387-40E4-8C35-3CF59DD773D7}"/>
              </a:ext>
            </a:extLst>
          </p:cNvPr>
          <p:cNvSpPr txBox="1">
            <a:spLocks/>
          </p:cNvSpPr>
          <p:nvPr/>
        </p:nvSpPr>
        <p:spPr>
          <a:xfrm>
            <a:off x="4475700" y="1632155"/>
            <a:ext cx="3392999" cy="33208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Adam</a:t>
            </a:r>
          </a:p>
          <a:p>
            <a:r>
              <a:rPr lang="en-US" b="1" dirty="0" err="1"/>
              <a:t>ADA</a:t>
            </a:r>
            <a:r>
              <a:rPr lang="en-US" dirty="0" err="1"/>
              <a:t>ptive</a:t>
            </a:r>
            <a:r>
              <a:rPr lang="en-US" dirty="0"/>
              <a:t> </a:t>
            </a:r>
            <a:r>
              <a:rPr lang="en-US" b="1" dirty="0"/>
              <a:t>M</a:t>
            </a:r>
            <a:r>
              <a:rPr lang="en-US" dirty="0"/>
              <a:t>oment Estimation</a:t>
            </a:r>
          </a:p>
          <a:p>
            <a:r>
              <a:rPr lang="en-US" dirty="0"/>
              <a:t>Kingma &amp; Ba, 2015</a:t>
            </a:r>
          </a:p>
          <a:p>
            <a:r>
              <a:rPr lang="en-US" dirty="0"/>
              <a:t>RMSProp with improved momentum </a:t>
            </a:r>
          </a:p>
          <a:p>
            <a:r>
              <a:rPr lang="en-US" dirty="0"/>
              <a:t>Uses the </a:t>
            </a:r>
            <a:r>
              <a:rPr lang="en-US" b="1" dirty="0"/>
              <a:t>mean of the gradients </a:t>
            </a:r>
            <a:r>
              <a:rPr lang="en-US" dirty="0"/>
              <a:t>as momentum</a:t>
            </a:r>
          </a:p>
          <a:p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90EBD8-425A-CCC1-6E5D-5A2845DA7AC2}"/>
              </a:ext>
            </a:extLst>
          </p:cNvPr>
          <p:cNvSpPr txBox="1">
            <a:spLocks/>
          </p:cNvSpPr>
          <p:nvPr/>
        </p:nvSpPr>
        <p:spPr>
          <a:xfrm>
            <a:off x="7868699" y="1632155"/>
            <a:ext cx="3556385" cy="34068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 err="1"/>
              <a:t>AdamW</a:t>
            </a:r>
            <a:endParaRPr lang="en-US" sz="3000" b="1" dirty="0"/>
          </a:p>
          <a:p>
            <a:r>
              <a:rPr lang="en-US" b="1" dirty="0"/>
              <a:t>ADAM </a:t>
            </a:r>
            <a:r>
              <a:rPr lang="en-US" dirty="0"/>
              <a:t>with decoupled </a:t>
            </a:r>
            <a:r>
              <a:rPr lang="en-US" b="1" dirty="0"/>
              <a:t>W</a:t>
            </a:r>
            <a:r>
              <a:rPr lang="en-US" dirty="0"/>
              <a:t>eight Decay</a:t>
            </a:r>
          </a:p>
          <a:p>
            <a:r>
              <a:rPr lang="en-US" dirty="0" err="1"/>
              <a:t>Loschilov</a:t>
            </a:r>
            <a:r>
              <a:rPr lang="en-US" dirty="0"/>
              <a:t> &amp; Hutter, 2017</a:t>
            </a:r>
          </a:p>
          <a:p>
            <a:r>
              <a:rPr lang="en-US" dirty="0" err="1"/>
              <a:t>AdamW</a:t>
            </a:r>
            <a:r>
              <a:rPr lang="en-US" dirty="0"/>
              <a:t> with improved weight decay</a:t>
            </a:r>
          </a:p>
          <a:p>
            <a:r>
              <a:rPr lang="en-US" dirty="0"/>
              <a:t>Adds weight decay calculation </a:t>
            </a:r>
            <a:r>
              <a:rPr lang="en-US" b="1" dirty="0"/>
              <a:t>after</a:t>
            </a:r>
            <a:r>
              <a:rPr lang="en-US" dirty="0"/>
              <a:t> weight scaling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EFF417-F80E-5913-BD95-E9701796F1A7}"/>
              </a:ext>
            </a:extLst>
          </p:cNvPr>
          <p:cNvSpPr txBox="1">
            <a:spLocks/>
          </p:cNvSpPr>
          <p:nvPr/>
        </p:nvSpPr>
        <p:spPr>
          <a:xfrm>
            <a:off x="930302" y="5039033"/>
            <a:ext cx="3465869" cy="1410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✅ </a:t>
            </a:r>
            <a:r>
              <a:rPr lang="en-US" b="1" dirty="0">
                <a:solidFill>
                  <a:schemeClr val="bg1"/>
                </a:solidFill>
              </a:rPr>
              <a:t>Datasets with rough loss gradients</a:t>
            </a:r>
          </a:p>
          <a:p>
            <a:pPr marL="0" indent="0">
              <a:buFont typeface="Wingdings 3" charset="2"/>
              <a:buNone/>
            </a:pPr>
            <a:r>
              <a:rPr lang="en-US" b="1" dirty="0">
                <a:solidFill>
                  <a:schemeClr val="bg1"/>
                </a:solidFill>
              </a:rPr>
              <a:t>❌Lags at datasets with smoother gradients</a:t>
            </a:r>
          </a:p>
          <a:p>
            <a:endParaRPr lang="en-US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48078A-07DF-4DCE-BAA5-1DAE3A36CC7A}"/>
              </a:ext>
            </a:extLst>
          </p:cNvPr>
          <p:cNvSpPr txBox="1">
            <a:spLocks/>
          </p:cNvSpPr>
          <p:nvPr/>
        </p:nvSpPr>
        <p:spPr>
          <a:xfrm>
            <a:off x="4475699" y="5039031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Versatile, well-rounded algorithm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Limited by its weight decay calculation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9F2A5B6-F780-92B0-2D75-1A1EF32453AA}"/>
              </a:ext>
            </a:extLst>
          </p:cNvPr>
          <p:cNvSpPr txBox="1">
            <a:spLocks/>
          </p:cNvSpPr>
          <p:nvPr/>
        </p:nvSpPr>
        <p:spPr>
          <a:xfrm>
            <a:off x="7868698" y="5043946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Enhanced Weight Generalization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2x the memory usage</a:t>
            </a:r>
          </a:p>
        </p:txBody>
      </p:sp>
    </p:spTree>
    <p:extLst>
      <p:ext uri="{BB962C8B-B14F-4D97-AF65-F5344CB8AC3E}">
        <p14:creationId xmlns:p14="http://schemas.microsoft.com/office/powerpoint/2010/main" val="53821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6B0F-D414-AFE6-4D20-0558757F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387D6-0963-2CEF-1BBD-0D0BAD003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CDC9-D0BC-B38D-9875-88B554373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504335"/>
            <a:ext cx="10574310" cy="5240594"/>
          </a:xfrm>
        </p:spPr>
        <p:txBody>
          <a:bodyPr>
            <a:normAutofit/>
          </a:bodyPr>
          <a:lstStyle/>
          <a:p>
            <a:r>
              <a:rPr lang="en-US" sz="2400" b="1" dirty="0"/>
              <a:t>Learning Rate </a:t>
            </a:r>
            <a:r>
              <a:rPr lang="en-US" sz="2400" b="1" i="1" dirty="0"/>
              <a:t>(</a:t>
            </a:r>
            <a:r>
              <a:rPr lang="en-US" sz="2400" b="1" i="1" dirty="0" err="1"/>
              <a:t>lr</a:t>
            </a:r>
            <a:r>
              <a:rPr lang="en-US" sz="2400" b="1" i="1" dirty="0"/>
              <a:t>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Model Learning Rate</a:t>
            </a:r>
          </a:p>
          <a:p>
            <a:r>
              <a:rPr lang="en-US" sz="2400" b="1" dirty="0"/>
              <a:t>Decay Rate (</a:t>
            </a:r>
            <a:r>
              <a:rPr lang="en-US" sz="2400" b="1" i="1" dirty="0"/>
              <a:t>Alpha (</a:t>
            </a:r>
            <a:r>
              <a:rPr lang="el-GR" sz="2400" b="1" i="1" dirty="0"/>
              <a:t>α</a:t>
            </a:r>
            <a:r>
              <a:rPr lang="en-US" sz="2400" b="1" i="1" dirty="0"/>
              <a:t>), Betas (β2))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Historic Gradient scaling rate</a:t>
            </a:r>
          </a:p>
          <a:p>
            <a:r>
              <a:rPr lang="en-US" sz="2400" b="1" dirty="0"/>
              <a:t>Momentum (</a:t>
            </a:r>
            <a:r>
              <a:rPr lang="en-US" sz="2400" b="1" i="1" dirty="0"/>
              <a:t>momentum, Betas (β1))</a:t>
            </a:r>
          </a:p>
          <a:p>
            <a:pPr lvl="1"/>
            <a:r>
              <a:rPr lang="en-US" sz="2400" b="1" dirty="0"/>
              <a:t> </a:t>
            </a:r>
            <a:r>
              <a:rPr lang="en-US" sz="2200" dirty="0"/>
              <a:t>Historic Gradient adjustment rate</a:t>
            </a:r>
            <a:endParaRPr lang="en-US" sz="2200" b="1" dirty="0"/>
          </a:p>
          <a:p>
            <a:r>
              <a:rPr lang="en-US" sz="2400" b="1" dirty="0"/>
              <a:t>Epsilon (</a:t>
            </a:r>
            <a:r>
              <a:rPr lang="en-US" sz="2400" b="1" i="1" dirty="0"/>
              <a:t>eps, ε)</a:t>
            </a:r>
          </a:p>
          <a:p>
            <a:pPr lvl="1"/>
            <a:r>
              <a:rPr lang="en-US" sz="2400" b="1" i="1" dirty="0"/>
              <a:t> </a:t>
            </a:r>
            <a:r>
              <a:rPr lang="en-US" sz="2200" dirty="0"/>
              <a:t>Prevents zero division during gradient calculation</a:t>
            </a:r>
          </a:p>
          <a:p>
            <a:r>
              <a:rPr lang="en-US" sz="2400" b="1" dirty="0"/>
              <a:t>Weight Decay </a:t>
            </a:r>
            <a:r>
              <a:rPr lang="en-US" sz="2400" b="1" i="1" dirty="0"/>
              <a:t>(</a:t>
            </a:r>
            <a:r>
              <a:rPr lang="en-US" sz="2400" b="1" i="1" dirty="0" err="1"/>
              <a:t>weight_decay</a:t>
            </a:r>
            <a:r>
              <a:rPr lang="en-US" sz="2400" b="1" i="1" dirty="0"/>
              <a:t>)</a:t>
            </a:r>
          </a:p>
          <a:p>
            <a:pPr lvl="1"/>
            <a:r>
              <a:rPr lang="en-US" sz="2200" dirty="0"/>
              <a:t>Weight adjustment penalization </a:t>
            </a:r>
            <a:endParaRPr lang="en-US" sz="2200" b="1" dirty="0"/>
          </a:p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82204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5B9BB-0377-D509-77D0-26C2B5905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22909"/>
          </a:xfrm>
        </p:spPr>
        <p:txBody>
          <a:bodyPr/>
          <a:lstStyle/>
          <a:p>
            <a:r>
              <a:rPr lang="en-US" dirty="0"/>
              <a:t>Algorithm-specific Parameters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0B6E96-6D1F-F164-13E2-AF2305F2F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3" y="1632155"/>
            <a:ext cx="3169750" cy="48178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RMSProp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Centered </a:t>
            </a:r>
            <a:r>
              <a:rPr lang="en-US" b="1" i="1" dirty="0"/>
              <a:t>(centered) </a:t>
            </a:r>
          </a:p>
          <a:p>
            <a:r>
              <a:rPr lang="en-US" i="1" dirty="0"/>
              <a:t>Applies a normalization to the gradients using variance estimation</a:t>
            </a:r>
          </a:p>
          <a:p>
            <a:r>
              <a:rPr lang="en-US" i="1" dirty="0"/>
              <a:t>Extra gradient calculation = more stable updates but more training time</a:t>
            </a:r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D824A2D-44AA-9155-2DF3-72BD7333D313}"/>
              </a:ext>
            </a:extLst>
          </p:cNvPr>
          <p:cNvSpPr txBox="1">
            <a:spLocks/>
          </p:cNvSpPr>
          <p:nvPr/>
        </p:nvSpPr>
        <p:spPr>
          <a:xfrm>
            <a:off x="4211677" y="1632155"/>
            <a:ext cx="3545398" cy="4817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/>
              <a:t>Adam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Decoupled Weight Decay</a:t>
            </a:r>
            <a:br>
              <a:rPr lang="en-US" sz="1600" b="1" dirty="0"/>
            </a:br>
            <a:r>
              <a:rPr lang="en-US" sz="1600" b="1" dirty="0"/>
              <a:t>(</a:t>
            </a:r>
            <a:r>
              <a:rPr lang="en-US" sz="1600" b="1" dirty="0" err="1"/>
              <a:t>decoupled_weight_decay</a:t>
            </a:r>
            <a:r>
              <a:rPr lang="en-US" sz="1600" b="1" dirty="0"/>
              <a:t>)</a:t>
            </a:r>
          </a:p>
          <a:p>
            <a:r>
              <a:rPr lang="en-US" i="1" dirty="0"/>
              <a:t>Uses the exact decoupled weight decay mechanism </a:t>
            </a:r>
            <a:r>
              <a:rPr lang="en-US" i="1" dirty="0" err="1"/>
              <a:t>AdamW</a:t>
            </a:r>
            <a:r>
              <a:rPr lang="en-US" i="1" dirty="0"/>
              <a:t> does</a:t>
            </a:r>
          </a:p>
          <a:p>
            <a:r>
              <a:rPr lang="en-US" i="1" dirty="0"/>
              <a:t>Added as an update 2019 onward after </a:t>
            </a:r>
            <a:r>
              <a:rPr lang="en-US" i="1" dirty="0" err="1"/>
              <a:t>AdamW</a:t>
            </a:r>
            <a:r>
              <a:rPr lang="en-US" i="1" dirty="0"/>
              <a:t> was established for backward compatibility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2D1CCE-1C95-0635-15CC-F0BC3B5538F1}"/>
              </a:ext>
            </a:extLst>
          </p:cNvPr>
          <p:cNvSpPr txBox="1">
            <a:spLocks/>
          </p:cNvSpPr>
          <p:nvPr/>
        </p:nvSpPr>
        <p:spPr>
          <a:xfrm>
            <a:off x="7868699" y="1632154"/>
            <a:ext cx="3635913" cy="4965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 err="1"/>
              <a:t>AdamW</a:t>
            </a:r>
            <a:endParaRPr lang="en-US" sz="1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Maximize (maximize)</a:t>
            </a:r>
          </a:p>
          <a:p>
            <a:r>
              <a:rPr lang="en-US" i="1" dirty="0"/>
              <a:t>Maximizes the losses instead of minimizing it (edge case</a:t>
            </a:r>
            <a:r>
              <a:rPr lang="en-US" dirty="0"/>
              <a:t>)</a:t>
            </a: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Differentiable (differentiable)</a:t>
            </a:r>
          </a:p>
          <a:p>
            <a:r>
              <a:rPr lang="en-US" i="1" dirty="0"/>
              <a:t>Enables or disables </a:t>
            </a:r>
            <a:r>
              <a:rPr lang="en-US" i="1" dirty="0" err="1"/>
              <a:t>autograd</a:t>
            </a:r>
            <a:r>
              <a:rPr lang="en-US" i="1" dirty="0"/>
              <a:t> during training</a:t>
            </a:r>
          </a:p>
          <a:p>
            <a:r>
              <a:rPr lang="en-US" i="1" dirty="0"/>
              <a:t>Backpropagates  the optimizer math (</a:t>
            </a:r>
            <a:r>
              <a:rPr lang="en-US" i="1" dirty="0" err="1"/>
              <a:t>autograd</a:t>
            </a:r>
            <a:r>
              <a:rPr lang="en-US" i="1" dirty="0"/>
              <a:t>)</a:t>
            </a:r>
          </a:p>
          <a:p>
            <a:pPr marL="0" indent="0">
              <a:buNone/>
            </a:pPr>
            <a:r>
              <a:rPr lang="en-US" b="1" dirty="0"/>
              <a:t>Capturable (capturable)</a:t>
            </a:r>
          </a:p>
          <a:p>
            <a:r>
              <a:rPr lang="en-US" i="1" dirty="0"/>
              <a:t>Moves the tracking values operations into the GPU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64746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17DB-472F-8A7F-62DB-47405F87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AC0B-688D-BFAF-0E8C-00F21CEE2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12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1610-8135-452B-7329-45845B227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FFB56-CC09-E264-7779-B28BF4E04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289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B1-C463-054E-8429-BD4A7B419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 &amp;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2A3CE-0D11-5335-8C0A-EE11A2A2E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363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F9636-CCA1-BB83-C04D-21A3B9DE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0016E-DDD4-A19E-076E-8BB3344CD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426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7A964-4E2A-6126-DF8E-7BD45E010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30E8E-D06C-ADE7-9F42-AC79E9281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64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D5AD-EF12-3820-167E-7022D2CF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72BB8-3739-5D14-1FA9-4B2D522D6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4160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125</TotalTime>
  <Words>313</Words>
  <Application>Microsoft Office PowerPoint</Application>
  <PresentationFormat>Widescreen</PresentationFormat>
  <Paragraphs>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Wisp</vt:lpstr>
      <vt:lpstr>A Tale of Three Optimizers</vt:lpstr>
      <vt:lpstr>Introduction</vt:lpstr>
      <vt:lpstr>Dataset</vt:lpstr>
      <vt:lpstr>Model Architecture</vt:lpstr>
      <vt:lpstr>Optimizers</vt:lpstr>
      <vt:lpstr>Common Parameters</vt:lpstr>
      <vt:lpstr>Algorithm-specific Parameters</vt:lpstr>
      <vt:lpstr>Methodology</vt:lpstr>
      <vt:lpstr>Results</vt:lpstr>
      <vt:lpstr>Interpretation &amp; Discussion</vt:lpstr>
      <vt:lpstr>Conclusion</vt:lpstr>
      <vt:lpstr>References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Yao-Fu Yang</dc:creator>
  <cp:lastModifiedBy>Kevin Joseff Cabrera</cp:lastModifiedBy>
  <cp:revision>14</cp:revision>
  <dcterms:created xsi:type="dcterms:W3CDTF">2026-06-21T00:23:36Z</dcterms:created>
  <dcterms:modified xsi:type="dcterms:W3CDTF">2026-06-21T20:37:23Z</dcterms:modified>
</cp:coreProperties>
</file>