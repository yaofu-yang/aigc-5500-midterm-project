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8" r:id="rId8"/>
    <p:sldId id="262" r:id="rId9"/>
    <p:sldId id="263" r:id="rId10"/>
    <p:sldId id="264" r:id="rId11"/>
    <p:sldId id="265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6F5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958"/>
    <p:restoredTop sz="94652"/>
  </p:normalViewPr>
  <p:slideViewPr>
    <p:cSldViewPr snapToGrid="0">
      <p:cViewPr varScale="1">
        <p:scale>
          <a:sx n="105" d="100"/>
          <a:sy n="105" d="100"/>
        </p:scale>
        <p:origin x="4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6/21/2026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6/21/2026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6/21/2026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6/21/2026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58" r:id="rId15"/>
    <p:sldLayoutId id="21474836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6" name="Group 115">
            <a:extLst>
              <a:ext uri="{FF2B5EF4-FFF2-40B4-BE49-F238E27FC236}">
                <a16:creationId xmlns:a16="http://schemas.microsoft.com/office/drawing/2014/main" id="{8CD25866-F15D-40A4-AEC5-47C044637A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" y="228600"/>
            <a:ext cx="2851523" cy="6638625"/>
            <a:chOff x="2487613" y="285750"/>
            <a:chExt cx="2428875" cy="5654676"/>
          </a:xfrm>
        </p:grpSpPr>
        <p:sp>
          <p:nvSpPr>
            <p:cNvPr id="117" name="Freeform 11">
              <a:extLst>
                <a:ext uri="{FF2B5EF4-FFF2-40B4-BE49-F238E27FC236}">
                  <a16:creationId xmlns:a16="http://schemas.microsoft.com/office/drawing/2014/main" id="{DCB8E995-36E8-40B6-82D4-F52DE2987B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8" name="Freeform 12">
              <a:extLst>
                <a:ext uri="{FF2B5EF4-FFF2-40B4-BE49-F238E27FC236}">
                  <a16:creationId xmlns:a16="http://schemas.microsoft.com/office/drawing/2014/main" id="{DF54AEB5-68B5-46AE-B8F0-EEBE5DFED8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9" name="Freeform 13">
              <a:extLst>
                <a:ext uri="{FF2B5EF4-FFF2-40B4-BE49-F238E27FC236}">
                  <a16:creationId xmlns:a16="http://schemas.microsoft.com/office/drawing/2014/main" id="{E3F708CB-F094-4EE7-8AD5-A462F1DF8B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0" name="Freeform 14">
              <a:extLst>
                <a:ext uri="{FF2B5EF4-FFF2-40B4-BE49-F238E27FC236}">
                  <a16:creationId xmlns:a16="http://schemas.microsoft.com/office/drawing/2014/main" id="{ECFCFB22-E8B5-4FAC-A354-E7E0CE6F2B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1" name="Freeform 15">
              <a:extLst>
                <a:ext uri="{FF2B5EF4-FFF2-40B4-BE49-F238E27FC236}">
                  <a16:creationId xmlns:a16="http://schemas.microsoft.com/office/drawing/2014/main" id="{ED1DB3B4-A6DC-476F-986E-DF361EE842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2" name="Freeform 16">
              <a:extLst>
                <a:ext uri="{FF2B5EF4-FFF2-40B4-BE49-F238E27FC236}">
                  <a16:creationId xmlns:a16="http://schemas.microsoft.com/office/drawing/2014/main" id="{4EE13DFA-3489-4DE6-9154-34D9CB4005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3" name="Freeform 17">
              <a:extLst>
                <a:ext uri="{FF2B5EF4-FFF2-40B4-BE49-F238E27FC236}">
                  <a16:creationId xmlns:a16="http://schemas.microsoft.com/office/drawing/2014/main" id="{5CD12D51-F9A8-4CC9-B9C9-206EAFD8C1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4" name="Freeform 18">
              <a:extLst>
                <a:ext uri="{FF2B5EF4-FFF2-40B4-BE49-F238E27FC236}">
                  <a16:creationId xmlns:a16="http://schemas.microsoft.com/office/drawing/2014/main" id="{266B326C-1178-40F9-A265-6067D363B4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5" name="Freeform 19">
              <a:extLst>
                <a:ext uri="{FF2B5EF4-FFF2-40B4-BE49-F238E27FC236}">
                  <a16:creationId xmlns:a16="http://schemas.microsoft.com/office/drawing/2014/main" id="{12F3B319-F00B-4755-BC54-95511E21DB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6" name="Freeform 20">
              <a:extLst>
                <a:ext uri="{FF2B5EF4-FFF2-40B4-BE49-F238E27FC236}">
                  <a16:creationId xmlns:a16="http://schemas.microsoft.com/office/drawing/2014/main" id="{3079D7BD-8A3F-47F6-8407-D9DA96FF35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7" name="Freeform 21">
              <a:extLst>
                <a:ext uri="{FF2B5EF4-FFF2-40B4-BE49-F238E27FC236}">
                  <a16:creationId xmlns:a16="http://schemas.microsoft.com/office/drawing/2014/main" id="{1F97C31C-8585-43FB-924B-8ADD651233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8" name="Freeform 22">
              <a:extLst>
                <a:ext uri="{FF2B5EF4-FFF2-40B4-BE49-F238E27FC236}">
                  <a16:creationId xmlns:a16="http://schemas.microsoft.com/office/drawing/2014/main" id="{A33E1C89-7E74-49BF-A5D1-9A352ED03E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30" name="Group 129">
            <a:extLst>
              <a:ext uri="{FF2B5EF4-FFF2-40B4-BE49-F238E27FC236}">
                <a16:creationId xmlns:a16="http://schemas.microsoft.com/office/drawing/2014/main" id="{0C4A17ED-96AA-44A6-A050-E1A7A1CDD9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7224" y="-786"/>
            <a:ext cx="2356675" cy="6854040"/>
            <a:chOff x="6627813" y="194833"/>
            <a:chExt cx="1952625" cy="5678918"/>
          </a:xfrm>
        </p:grpSpPr>
        <p:sp>
          <p:nvSpPr>
            <p:cNvPr id="131" name="Freeform 27">
              <a:extLst>
                <a:ext uri="{FF2B5EF4-FFF2-40B4-BE49-F238E27FC236}">
                  <a16:creationId xmlns:a16="http://schemas.microsoft.com/office/drawing/2014/main" id="{FBB2A87E-3E24-4A6F-9FD8-0F1436D4D3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2" name="Freeform 28">
              <a:extLst>
                <a:ext uri="{FF2B5EF4-FFF2-40B4-BE49-F238E27FC236}">
                  <a16:creationId xmlns:a16="http://schemas.microsoft.com/office/drawing/2014/main" id="{257F945B-2AA3-4328-BFF5-20DE64011B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3" name="Freeform 29">
              <a:extLst>
                <a:ext uri="{FF2B5EF4-FFF2-40B4-BE49-F238E27FC236}">
                  <a16:creationId xmlns:a16="http://schemas.microsoft.com/office/drawing/2014/main" id="{E1A7230F-6A6F-403C-9D83-7176E28525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4" name="Freeform 30">
              <a:extLst>
                <a:ext uri="{FF2B5EF4-FFF2-40B4-BE49-F238E27FC236}">
                  <a16:creationId xmlns:a16="http://schemas.microsoft.com/office/drawing/2014/main" id="{E33E315A-9CB0-460E-A8B7-0A064BBFA0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5" name="Freeform 31">
              <a:extLst>
                <a:ext uri="{FF2B5EF4-FFF2-40B4-BE49-F238E27FC236}">
                  <a16:creationId xmlns:a16="http://schemas.microsoft.com/office/drawing/2014/main" id="{22CAAD33-CFAD-4E61-82AE-0C6F838530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6" name="Freeform 32">
              <a:extLst>
                <a:ext uri="{FF2B5EF4-FFF2-40B4-BE49-F238E27FC236}">
                  <a16:creationId xmlns:a16="http://schemas.microsoft.com/office/drawing/2014/main" id="{1A20E13C-2540-4000-A13B-8F781100E3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7" name="Freeform 33">
              <a:extLst>
                <a:ext uri="{FF2B5EF4-FFF2-40B4-BE49-F238E27FC236}">
                  <a16:creationId xmlns:a16="http://schemas.microsoft.com/office/drawing/2014/main" id="{51EF0A01-E03D-448B-B12E-D5BFC6D0D2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8" name="Freeform 34">
              <a:extLst>
                <a:ext uri="{FF2B5EF4-FFF2-40B4-BE49-F238E27FC236}">
                  <a16:creationId xmlns:a16="http://schemas.microsoft.com/office/drawing/2014/main" id="{58286A03-168E-477B-8876-2C53E4950D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9" name="Freeform 35">
              <a:extLst>
                <a:ext uri="{FF2B5EF4-FFF2-40B4-BE49-F238E27FC236}">
                  <a16:creationId xmlns:a16="http://schemas.microsoft.com/office/drawing/2014/main" id="{3DFFC705-1899-4E4C-AE76-F85BAF2F66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0" name="Freeform 36">
              <a:extLst>
                <a:ext uri="{FF2B5EF4-FFF2-40B4-BE49-F238E27FC236}">
                  <a16:creationId xmlns:a16="http://schemas.microsoft.com/office/drawing/2014/main" id="{01C9598D-BDF6-4A24-83B6-4DCA4D1349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1" name="Freeform 37">
              <a:extLst>
                <a:ext uri="{FF2B5EF4-FFF2-40B4-BE49-F238E27FC236}">
                  <a16:creationId xmlns:a16="http://schemas.microsoft.com/office/drawing/2014/main" id="{950C8213-67CD-4DEF-AA44-8BB31013924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2" name="Freeform 38">
              <a:extLst>
                <a:ext uri="{FF2B5EF4-FFF2-40B4-BE49-F238E27FC236}">
                  <a16:creationId xmlns:a16="http://schemas.microsoft.com/office/drawing/2014/main" id="{2016FE1D-E3EB-4CF6-809B-159872CC78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44" name="Rectangle 143">
            <a:extLst>
              <a:ext uri="{FF2B5EF4-FFF2-40B4-BE49-F238E27FC236}">
                <a16:creationId xmlns:a16="http://schemas.microsoft.com/office/drawing/2014/main" id="{CE6C63DC-BAE4-42B6-8FDF-F6467C2D23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46" name="Freeform 11">
            <a:extLst>
              <a:ext uri="{FF2B5EF4-FFF2-40B4-BE49-F238E27FC236}">
                <a16:creationId xmlns:a16="http://schemas.microsoft.com/office/drawing/2014/main" id="{BFE4781A-41C7-4F27-8792-A74EFB8E5C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 useBgFill="1">
        <p:nvSpPr>
          <p:cNvPr id="148" name="Rectangle 147">
            <a:extLst>
              <a:ext uri="{FF2B5EF4-FFF2-40B4-BE49-F238E27FC236}">
                <a16:creationId xmlns:a16="http://schemas.microsoft.com/office/drawing/2014/main" id="{66AFD431-09B7-42CA-BF39-9FE5DBE537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12191998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lt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50" name="Group 149">
            <a:extLst>
              <a:ext uri="{FF2B5EF4-FFF2-40B4-BE49-F238E27FC236}">
                <a16:creationId xmlns:a16="http://schemas.microsoft.com/office/drawing/2014/main" id="{9711C96E-3D2D-48C8-AAB9-C1CB02D1D5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6009967" y="0"/>
            <a:ext cx="6176982" cy="6853245"/>
            <a:chOff x="2487613" y="285750"/>
            <a:chExt cx="2428876" cy="5654676"/>
          </a:xfrm>
          <a:solidFill>
            <a:schemeClr val="accent1">
              <a:alpha val="30000"/>
            </a:schemeClr>
          </a:solidFill>
        </p:grpSpPr>
        <p:sp>
          <p:nvSpPr>
            <p:cNvPr id="151" name="Freeform 11">
              <a:extLst>
                <a:ext uri="{FF2B5EF4-FFF2-40B4-BE49-F238E27FC236}">
                  <a16:creationId xmlns:a16="http://schemas.microsoft.com/office/drawing/2014/main" id="{0D18AF42-7CD5-4754-91D4-1BE53B5D14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2" name="Freeform 12">
              <a:extLst>
                <a:ext uri="{FF2B5EF4-FFF2-40B4-BE49-F238E27FC236}">
                  <a16:creationId xmlns:a16="http://schemas.microsoft.com/office/drawing/2014/main" id="{A28C8F1A-9407-4D67-8250-D8923BC6DD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3" name="Freeform 13">
              <a:extLst>
                <a:ext uri="{FF2B5EF4-FFF2-40B4-BE49-F238E27FC236}">
                  <a16:creationId xmlns:a16="http://schemas.microsoft.com/office/drawing/2014/main" id="{5CE0A2B0-F7F1-442C-A287-CD6F729E28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4" name="Freeform 14">
              <a:extLst>
                <a:ext uri="{FF2B5EF4-FFF2-40B4-BE49-F238E27FC236}">
                  <a16:creationId xmlns:a16="http://schemas.microsoft.com/office/drawing/2014/main" id="{9E69CFA3-AE12-4EAF-A3A1-564BEEFEFA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5" name="Freeform 15">
              <a:extLst>
                <a:ext uri="{FF2B5EF4-FFF2-40B4-BE49-F238E27FC236}">
                  <a16:creationId xmlns:a16="http://schemas.microsoft.com/office/drawing/2014/main" id="{ECB64037-2AE8-4CA9-AD8E-7ACC8618FB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6" name="Freeform 16">
              <a:extLst>
                <a:ext uri="{FF2B5EF4-FFF2-40B4-BE49-F238E27FC236}">
                  <a16:creationId xmlns:a16="http://schemas.microsoft.com/office/drawing/2014/main" id="{8D319B10-EE8E-453F-A137-D7EEFA2089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7" name="Freeform 17">
              <a:extLst>
                <a:ext uri="{FF2B5EF4-FFF2-40B4-BE49-F238E27FC236}">
                  <a16:creationId xmlns:a16="http://schemas.microsoft.com/office/drawing/2014/main" id="{3283F486-509C-4A42-8EED-794A991D2F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8" name="Freeform 18">
              <a:extLst>
                <a:ext uri="{FF2B5EF4-FFF2-40B4-BE49-F238E27FC236}">
                  <a16:creationId xmlns:a16="http://schemas.microsoft.com/office/drawing/2014/main" id="{EBBFBB12-E756-4386-9C17-CA57438389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9" name="Freeform 19">
              <a:extLst>
                <a:ext uri="{FF2B5EF4-FFF2-40B4-BE49-F238E27FC236}">
                  <a16:creationId xmlns:a16="http://schemas.microsoft.com/office/drawing/2014/main" id="{7ADD0E7E-F4A6-4B3F-8A2F-BCBFAFBA23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8014" y="468286"/>
              <a:ext cx="1768475" cy="4262464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0" name="Freeform 20">
              <a:extLst>
                <a:ext uri="{FF2B5EF4-FFF2-40B4-BE49-F238E27FC236}">
                  <a16:creationId xmlns:a16="http://schemas.microsoft.com/office/drawing/2014/main" id="{C19FCFB7-5E71-4197-8EC7-2ACB6DB028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1" name="Freeform 21">
              <a:extLst>
                <a:ext uri="{FF2B5EF4-FFF2-40B4-BE49-F238E27FC236}">
                  <a16:creationId xmlns:a16="http://schemas.microsoft.com/office/drawing/2014/main" id="{EAA533FE-4903-48DD-A921-421A9C44AF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2" name="Freeform 22">
              <a:extLst>
                <a:ext uri="{FF2B5EF4-FFF2-40B4-BE49-F238E27FC236}">
                  <a16:creationId xmlns:a16="http://schemas.microsoft.com/office/drawing/2014/main" id="{54CC5D8E-0D6C-4021-B84E-5D6182C0E1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8BEBE261-3799-DA1A-1A5B-6DA3845DCA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839756" y="1159566"/>
            <a:ext cx="3662939" cy="4568264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600" dirty="0">
                <a:solidFill>
                  <a:schemeClr val="tx1"/>
                </a:solidFill>
              </a:rPr>
              <a:t>A Tale of Three Optimizers</a:t>
            </a:r>
          </a:p>
        </p:txBody>
      </p:sp>
      <p:sp>
        <p:nvSpPr>
          <p:cNvPr id="164" name="Freeform 6">
            <a:extLst>
              <a:ext uri="{FF2B5EF4-FFF2-40B4-BE49-F238E27FC236}">
                <a16:creationId xmlns:a16="http://schemas.microsoft.com/office/drawing/2014/main" id="{E7D63BAB-D0DB-4F66-92F9-4D2E0A2E5A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0" y="643468"/>
            <a:ext cx="7560245" cy="5571066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89000"/>
                </a:schemeClr>
              </a:gs>
              <a:gs pos="23000">
                <a:schemeClr val="accent1">
                  <a:lumMod val="89000"/>
                </a:schemeClr>
              </a:gs>
              <a:gs pos="69000">
                <a:schemeClr val="accent1">
                  <a:lumMod val="75000"/>
                </a:schemeClr>
              </a:gs>
              <a:gs pos="97000">
                <a:schemeClr val="accent1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00214B3-8D4B-C27C-DEAF-5FCBB2A680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7310" y="1286934"/>
            <a:ext cx="5292436" cy="428413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buFont typeface="Wingdings 3" charset="2"/>
              <a:buChar char=""/>
            </a:pPr>
            <a:r>
              <a:rPr lang="en-US" dirty="0">
                <a:solidFill>
                  <a:srgbClr val="FFFFFF"/>
                </a:solidFill>
              </a:rPr>
              <a:t>AIGC 5500 0NA | Advanced Deep Learning</a:t>
            </a:r>
          </a:p>
          <a:p>
            <a:pPr>
              <a:buFont typeface="Wingdings 3" charset="2"/>
              <a:buChar char=""/>
            </a:pPr>
            <a:r>
              <a:rPr lang="en-US" dirty="0">
                <a:solidFill>
                  <a:srgbClr val="FFFFFF"/>
                </a:solidFill>
              </a:rPr>
              <a:t>Team: </a:t>
            </a:r>
            <a:r>
              <a:rPr lang="en-US" dirty="0" err="1">
                <a:solidFill>
                  <a:srgbClr val="FFFFFF"/>
                </a:solidFill>
              </a:rPr>
              <a:t>HawkAI</a:t>
            </a:r>
            <a:r>
              <a:rPr lang="en-US" dirty="0">
                <a:solidFill>
                  <a:srgbClr val="FFFFFF"/>
                </a:solidFill>
              </a:rPr>
              <a:t> Detection</a:t>
            </a:r>
          </a:p>
          <a:p>
            <a:pPr lvl="1" algn="l">
              <a:buFont typeface="Wingdings 3" charset="2"/>
              <a:buChar char=""/>
            </a:pPr>
            <a:r>
              <a:rPr lang="en-US" dirty="0">
                <a:solidFill>
                  <a:srgbClr val="FFFFFF"/>
                </a:solidFill>
              </a:rPr>
              <a:t>Kevin Joseff Cabrera</a:t>
            </a:r>
          </a:p>
          <a:p>
            <a:pPr lvl="1" algn="l">
              <a:buFont typeface="Wingdings 3" charset="2"/>
              <a:buChar char=""/>
            </a:pPr>
            <a:r>
              <a:rPr lang="en-US" dirty="0">
                <a:solidFill>
                  <a:srgbClr val="FFFFFF"/>
                </a:solidFill>
              </a:rPr>
              <a:t>Mohd Mujtaba </a:t>
            </a:r>
            <a:r>
              <a:rPr lang="en-US" dirty="0" err="1">
                <a:solidFill>
                  <a:srgbClr val="FFFFFF"/>
                </a:solidFill>
              </a:rPr>
              <a:t>Saighani</a:t>
            </a:r>
            <a:endParaRPr lang="en-US" dirty="0">
              <a:solidFill>
                <a:srgbClr val="FFFFFF"/>
              </a:solidFill>
            </a:endParaRPr>
          </a:p>
          <a:p>
            <a:pPr lvl="1" algn="l">
              <a:buFont typeface="Wingdings 3" charset="2"/>
              <a:buChar char=""/>
            </a:pPr>
            <a:r>
              <a:rPr lang="en-US" dirty="0">
                <a:solidFill>
                  <a:srgbClr val="FFFFFF"/>
                </a:solidFill>
              </a:rPr>
              <a:t>Thiago </a:t>
            </a:r>
            <a:r>
              <a:rPr lang="en-US" dirty="0" err="1">
                <a:solidFill>
                  <a:srgbClr val="FFFFFF"/>
                </a:solidFill>
              </a:rPr>
              <a:t>Segantini</a:t>
            </a:r>
            <a:r>
              <a:rPr lang="en-US" dirty="0">
                <a:solidFill>
                  <a:srgbClr val="FFFFFF"/>
                </a:solidFill>
              </a:rPr>
              <a:t> Nogueira</a:t>
            </a:r>
          </a:p>
          <a:p>
            <a:pPr lvl="1" algn="l">
              <a:buFont typeface="Wingdings 3" charset="2"/>
              <a:buChar char=""/>
            </a:pPr>
            <a:r>
              <a:rPr lang="en-US" dirty="0" err="1">
                <a:solidFill>
                  <a:srgbClr val="FFFFFF"/>
                </a:solidFill>
              </a:rPr>
              <a:t>Sayamon</a:t>
            </a:r>
            <a:r>
              <a:rPr lang="en-US" dirty="0">
                <a:solidFill>
                  <a:srgbClr val="FFFFFF"/>
                </a:solidFill>
              </a:rPr>
              <a:t> </a:t>
            </a:r>
            <a:r>
              <a:rPr lang="en-US" dirty="0" err="1">
                <a:solidFill>
                  <a:srgbClr val="FFFFFF"/>
                </a:solidFill>
              </a:rPr>
              <a:t>Sittiprom</a:t>
            </a:r>
            <a:endParaRPr lang="en-US" dirty="0">
              <a:solidFill>
                <a:srgbClr val="FFFFFF"/>
              </a:solidFill>
            </a:endParaRPr>
          </a:p>
          <a:p>
            <a:pPr lvl="1" algn="l">
              <a:buFont typeface="Wingdings 3" charset="2"/>
              <a:buChar char=""/>
            </a:pPr>
            <a:r>
              <a:rPr lang="en-US" dirty="0">
                <a:solidFill>
                  <a:srgbClr val="FFFFFF"/>
                </a:solidFill>
              </a:rPr>
              <a:t>Yao-Fu Yang</a:t>
            </a:r>
          </a:p>
        </p:txBody>
      </p:sp>
    </p:spTree>
    <p:extLst>
      <p:ext uri="{BB962C8B-B14F-4D97-AF65-F5344CB8AC3E}">
        <p14:creationId xmlns:p14="http://schemas.microsoft.com/office/powerpoint/2010/main" val="199951098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60215E-F2DA-9E83-A0F1-248CBD2F3A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9A7ECC-DCCE-7FC5-552F-544D85F730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04892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28DB7D-BABD-4305-E363-B36CA3BA0A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5C85-DD63-C3E7-3E7A-883AE68F44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46573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A222C6-F4C7-DF7B-46FE-302147DEA2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F6AB5A-28DB-1E22-7E0F-CB090D9235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1955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4BEDD7-EF1E-1326-F6AA-C44E389214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Optimizers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ED9930-5028-B259-C029-4185901991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82130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2C17DB-472F-8A7F-62DB-47405F8726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Methodology</a:t>
            </a:r>
            <a:br>
              <a:rPr lang="en-US" dirty="0"/>
            </a:br>
            <a:r>
              <a:rPr lang="en-US" sz="2000" dirty="0"/>
              <a:t>Strategy &amp; Validation Protocol</a:t>
            </a:r>
            <a:endParaRPr lang="en-US" dirty="0"/>
          </a:p>
        </p:txBody>
      </p:sp>
      <p:pic>
        <p:nvPicPr>
          <p:cNvPr id="4" name="Google Shape;84;p13" descr="image.png">
            <a:extLst>
              <a:ext uri="{FF2B5EF4-FFF2-40B4-BE49-F238E27FC236}">
                <a16:creationId xmlns:a16="http://schemas.microsoft.com/office/drawing/2014/main" id="{D56AA958-64DF-78EF-83C2-87C81BD0B1DD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58606" y="2109406"/>
            <a:ext cx="3198876" cy="375685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86;p13">
            <a:extLst>
              <a:ext uri="{FF2B5EF4-FFF2-40B4-BE49-F238E27FC236}">
                <a16:creationId xmlns:a16="http://schemas.microsoft.com/office/drawing/2014/main" id="{684F7BF5-6E73-A147-5737-96F3347F1A15}"/>
              </a:ext>
            </a:extLst>
          </p:cNvPr>
          <p:cNvSpPr txBox="1"/>
          <p:nvPr/>
        </p:nvSpPr>
        <p:spPr>
          <a:xfrm>
            <a:off x="2245614" y="1747615"/>
            <a:ext cx="5867400" cy="942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Systematic Tuning:</a:t>
            </a:r>
            <a:r>
              <a:rPr lang="en-US" sz="1650" b="0" i="0" u="none" strike="noStrike" cap="none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 Employed a manual stepping approach for continuous/discrete variables, varying one parameter at a time from baseline defaults.</a:t>
            </a:r>
            <a:endParaRPr/>
          </a:p>
        </p:txBody>
      </p:sp>
      <p:sp>
        <p:nvSpPr>
          <p:cNvPr id="7" name="Google Shape;87;p13">
            <a:extLst>
              <a:ext uri="{FF2B5EF4-FFF2-40B4-BE49-F238E27FC236}">
                <a16:creationId xmlns:a16="http://schemas.microsoft.com/office/drawing/2014/main" id="{7C6FD0DC-6250-1650-C32A-2D7D76BDEC0D}"/>
              </a:ext>
            </a:extLst>
          </p:cNvPr>
          <p:cNvSpPr txBox="1"/>
          <p:nvPr/>
        </p:nvSpPr>
        <p:spPr>
          <a:xfrm>
            <a:off x="2245614" y="2928715"/>
            <a:ext cx="5867400" cy="942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Optuna Integration:</a:t>
            </a:r>
            <a:r>
              <a:rPr lang="en-US" sz="1650" b="0" i="0" u="none" strike="noStrike" cap="none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 Leveraged automated continuous random sampling within defined parameter ranges specifically for RMSprop configurations.</a:t>
            </a:r>
            <a:endParaRPr/>
          </a:p>
        </p:txBody>
      </p:sp>
      <p:sp>
        <p:nvSpPr>
          <p:cNvPr id="8" name="Google Shape;88;p13">
            <a:extLst>
              <a:ext uri="{FF2B5EF4-FFF2-40B4-BE49-F238E27FC236}">
                <a16:creationId xmlns:a16="http://schemas.microsoft.com/office/drawing/2014/main" id="{F54D3AB5-503B-05A2-C4FE-156901547359}"/>
              </a:ext>
            </a:extLst>
          </p:cNvPr>
          <p:cNvSpPr txBox="1"/>
          <p:nvPr/>
        </p:nvSpPr>
        <p:spPr>
          <a:xfrm>
            <a:off x="2245614" y="4109815"/>
            <a:ext cx="5867400" cy="942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5-Fold Cross-Validation:</a:t>
            </a:r>
            <a:r>
              <a:rPr lang="en-US" sz="1650" b="0" i="0" u="none" strike="noStrike" cap="none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 Partitioned the KMNIST set using sklearn's KFold to ensure robust performance metrics and prevent overfitting.</a:t>
            </a:r>
            <a:endParaRPr/>
          </a:p>
        </p:txBody>
      </p:sp>
      <p:sp>
        <p:nvSpPr>
          <p:cNvPr id="9" name="Google Shape;89;p13">
            <a:extLst>
              <a:ext uri="{FF2B5EF4-FFF2-40B4-BE49-F238E27FC236}">
                <a16:creationId xmlns:a16="http://schemas.microsoft.com/office/drawing/2014/main" id="{6ACCEF04-E08D-30A7-AF98-1548839A064D}"/>
              </a:ext>
            </a:extLst>
          </p:cNvPr>
          <p:cNvSpPr txBox="1"/>
          <p:nvPr/>
        </p:nvSpPr>
        <p:spPr>
          <a:xfrm>
            <a:off x="2245614" y="5290915"/>
            <a:ext cx="5867400" cy="942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State Isolation:</a:t>
            </a:r>
            <a:r>
              <a:rPr lang="en-US" sz="1650" b="0" i="0" u="none" strike="noStrike" cap="none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 Maintained absolute independence by instantiating fresh model weights and fixed random seeds per CV iteration.</a:t>
            </a:r>
            <a:endParaRPr/>
          </a:p>
        </p:txBody>
      </p:sp>
      <p:pic>
        <p:nvPicPr>
          <p:cNvPr id="10" name="Google Shape;90;p13" descr="image.png">
            <a:extLst>
              <a:ext uri="{FF2B5EF4-FFF2-40B4-BE49-F238E27FC236}">
                <a16:creationId xmlns:a16="http://schemas.microsoft.com/office/drawing/2014/main" id="{349CB081-9A74-6B13-1FC7-59259D0A33B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677656" y="2121408"/>
            <a:ext cx="3160776" cy="3718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Google Shape;91;p13" descr="image.png">
            <a:extLst>
              <a:ext uri="{FF2B5EF4-FFF2-40B4-BE49-F238E27FC236}">
                <a16:creationId xmlns:a16="http://schemas.microsoft.com/office/drawing/2014/main" id="{B0353309-986E-7DC5-3B97-07E09C302902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769364" y="1845183"/>
            <a:ext cx="266700" cy="276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Google Shape;92;p13" descr="image.png">
            <a:extLst>
              <a:ext uri="{FF2B5EF4-FFF2-40B4-BE49-F238E27FC236}">
                <a16:creationId xmlns:a16="http://schemas.microsoft.com/office/drawing/2014/main" id="{2076E903-349D-4FBB-9813-D19A60F2E3EB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769364" y="3007011"/>
            <a:ext cx="333375" cy="276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93;p13" descr="image.png">
            <a:extLst>
              <a:ext uri="{FF2B5EF4-FFF2-40B4-BE49-F238E27FC236}">
                <a16:creationId xmlns:a16="http://schemas.microsoft.com/office/drawing/2014/main" id="{136423EA-59C4-C46A-2035-8C1AE3AC9759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769364" y="4156107"/>
            <a:ext cx="304800" cy="276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94;p13" descr="image.png">
            <a:extLst>
              <a:ext uri="{FF2B5EF4-FFF2-40B4-BE49-F238E27FC236}">
                <a16:creationId xmlns:a16="http://schemas.microsoft.com/office/drawing/2014/main" id="{C512FD68-5381-18A9-5DBB-996F79541E44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769364" y="5353558"/>
            <a:ext cx="266700" cy="27622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524129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069CAC-09CF-B2AF-41F4-DD6CFB8079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etângulo: Cantos Arredondados 39">
            <a:extLst>
              <a:ext uri="{FF2B5EF4-FFF2-40B4-BE49-F238E27FC236}">
                <a16:creationId xmlns:a16="http://schemas.microsoft.com/office/drawing/2014/main" id="{A7367268-64B4-1B3C-F423-DFC25B45C46A}"/>
              </a:ext>
            </a:extLst>
          </p:cNvPr>
          <p:cNvSpPr/>
          <p:nvPr/>
        </p:nvSpPr>
        <p:spPr>
          <a:xfrm>
            <a:off x="8627554" y="2139696"/>
            <a:ext cx="3098102" cy="3511296"/>
          </a:xfrm>
          <a:prstGeom prst="roundRect">
            <a:avLst/>
          </a:prstGeom>
          <a:solidFill>
            <a:srgbClr val="766F5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9" name="Retângulo: Cantos Arredondados 38">
            <a:extLst>
              <a:ext uri="{FF2B5EF4-FFF2-40B4-BE49-F238E27FC236}">
                <a16:creationId xmlns:a16="http://schemas.microsoft.com/office/drawing/2014/main" id="{AE8380F2-C8A1-BB48-8C1C-054CD6C8A8B1}"/>
              </a:ext>
            </a:extLst>
          </p:cNvPr>
          <p:cNvSpPr/>
          <p:nvPr/>
        </p:nvSpPr>
        <p:spPr>
          <a:xfrm>
            <a:off x="4817554" y="2139696"/>
            <a:ext cx="3098102" cy="3511296"/>
          </a:xfrm>
          <a:prstGeom prst="roundRect">
            <a:avLst/>
          </a:prstGeom>
          <a:solidFill>
            <a:srgbClr val="766F5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8" name="Retângulo: Cantos Arredondados 37">
            <a:extLst>
              <a:ext uri="{FF2B5EF4-FFF2-40B4-BE49-F238E27FC236}">
                <a16:creationId xmlns:a16="http://schemas.microsoft.com/office/drawing/2014/main" id="{DCC6B898-7C39-62FA-27B9-DB8D8F4104D9}"/>
              </a:ext>
            </a:extLst>
          </p:cNvPr>
          <p:cNvSpPr/>
          <p:nvPr/>
        </p:nvSpPr>
        <p:spPr>
          <a:xfrm>
            <a:off x="1007554" y="2139696"/>
            <a:ext cx="3098102" cy="3511296"/>
          </a:xfrm>
          <a:prstGeom prst="roundRect">
            <a:avLst/>
          </a:prstGeom>
          <a:solidFill>
            <a:srgbClr val="766F5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05FD11-BA40-0E71-B669-555A7172F2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Methodology</a:t>
            </a:r>
            <a:br>
              <a:rPr lang="en-US" dirty="0"/>
            </a:br>
            <a:r>
              <a:rPr lang="en-US" sz="2000" dirty="0"/>
              <a:t>Execution &amp; Training Pipeline</a:t>
            </a:r>
            <a:endParaRPr lang="en-US" dirty="0"/>
          </a:p>
        </p:txBody>
      </p:sp>
      <p:sp>
        <p:nvSpPr>
          <p:cNvPr id="28" name="Google Shape;103;p14">
            <a:extLst>
              <a:ext uri="{FF2B5EF4-FFF2-40B4-BE49-F238E27FC236}">
                <a16:creationId xmlns:a16="http://schemas.microsoft.com/office/drawing/2014/main" id="{320ED2AD-A55B-A239-80ED-787F6BD892BA}"/>
              </a:ext>
            </a:extLst>
          </p:cNvPr>
          <p:cNvSpPr txBox="1"/>
          <p:nvPr/>
        </p:nvSpPr>
        <p:spPr>
          <a:xfrm>
            <a:off x="1350153" y="3324225"/>
            <a:ext cx="2300287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i="0" u="none" strike="noStrike" cap="none" dirty="0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Epoch Processing</a:t>
            </a:r>
            <a:endParaRPr sz="1600" dirty="0"/>
          </a:p>
        </p:txBody>
      </p:sp>
      <p:sp>
        <p:nvSpPr>
          <p:cNvPr id="29" name="Google Shape;104;p14">
            <a:extLst>
              <a:ext uri="{FF2B5EF4-FFF2-40B4-BE49-F238E27FC236}">
                <a16:creationId xmlns:a16="http://schemas.microsoft.com/office/drawing/2014/main" id="{B4B66577-5F65-4794-E09E-B7CFFE7D6F01}"/>
              </a:ext>
            </a:extLst>
          </p:cNvPr>
          <p:cNvSpPr txBox="1"/>
          <p:nvPr/>
        </p:nvSpPr>
        <p:spPr>
          <a:xfrm>
            <a:off x="1007554" y="3829050"/>
            <a:ext cx="2857500" cy="16619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E2E8F0"/>
                </a:solidFill>
                <a:latin typeface="DM Sans"/>
                <a:ea typeface="DM Sans"/>
                <a:cs typeface="DM Sans"/>
                <a:sym typeface="DM Sans"/>
              </a:rPr>
              <a:t>Engineered isolated functions for forward passing. Training modes handled loss, gradients, and weight updates, while evaluation modes generated clean metrics without modifying parameters.</a:t>
            </a:r>
            <a:endParaRPr sz="1600"/>
          </a:p>
        </p:txBody>
      </p:sp>
      <p:sp>
        <p:nvSpPr>
          <p:cNvPr id="30" name="Google Shape;105;p14">
            <a:extLst>
              <a:ext uri="{FF2B5EF4-FFF2-40B4-BE49-F238E27FC236}">
                <a16:creationId xmlns:a16="http://schemas.microsoft.com/office/drawing/2014/main" id="{9274452A-8B76-E97F-4235-8A175497EC08}"/>
              </a:ext>
            </a:extLst>
          </p:cNvPr>
          <p:cNvSpPr txBox="1"/>
          <p:nvPr/>
        </p:nvSpPr>
        <p:spPr>
          <a:xfrm>
            <a:off x="4980130" y="3324225"/>
            <a:ext cx="2660332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i="0" u="none" strike="noStrike" cap="none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Configuration Trials</a:t>
            </a:r>
            <a:endParaRPr sz="1600"/>
          </a:p>
        </p:txBody>
      </p:sp>
      <p:sp>
        <p:nvSpPr>
          <p:cNvPr id="31" name="Google Shape;106;p14">
            <a:extLst>
              <a:ext uri="{FF2B5EF4-FFF2-40B4-BE49-F238E27FC236}">
                <a16:creationId xmlns:a16="http://schemas.microsoft.com/office/drawing/2014/main" id="{4FF333A8-B0C6-BB3E-FEA1-A7449896467E}"/>
              </a:ext>
            </a:extLst>
          </p:cNvPr>
          <p:cNvSpPr txBox="1"/>
          <p:nvPr/>
        </p:nvSpPr>
        <p:spPr>
          <a:xfrm>
            <a:off x="4817554" y="3829050"/>
            <a:ext cx="2857500" cy="16619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E2E8F0"/>
                </a:solidFill>
                <a:latin typeface="DM Sans"/>
                <a:ea typeface="DM Sans"/>
                <a:cs typeface="DM Sans"/>
                <a:sym typeface="DM Sans"/>
              </a:rPr>
              <a:t>Built a reusable execution loop accepting optimizer types and configuration lists. Each permutation underwent strict validation to empirically identify the highest-performing parameters.</a:t>
            </a:r>
            <a:endParaRPr sz="1600"/>
          </a:p>
        </p:txBody>
      </p:sp>
      <p:sp>
        <p:nvSpPr>
          <p:cNvPr id="32" name="Google Shape;107;p14">
            <a:extLst>
              <a:ext uri="{FF2B5EF4-FFF2-40B4-BE49-F238E27FC236}">
                <a16:creationId xmlns:a16="http://schemas.microsoft.com/office/drawing/2014/main" id="{557B7F66-2F8E-B7C4-0AB2-0F5B5DE5D299}"/>
              </a:ext>
            </a:extLst>
          </p:cNvPr>
          <p:cNvSpPr txBox="1"/>
          <p:nvPr/>
        </p:nvSpPr>
        <p:spPr>
          <a:xfrm>
            <a:off x="9065165" y="3324225"/>
            <a:ext cx="2110263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i="0" u="none" strike="noStrike" cap="none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Final Evaluation</a:t>
            </a:r>
            <a:endParaRPr sz="1600"/>
          </a:p>
        </p:txBody>
      </p:sp>
      <p:sp>
        <p:nvSpPr>
          <p:cNvPr id="33" name="Google Shape;108;p14">
            <a:extLst>
              <a:ext uri="{FF2B5EF4-FFF2-40B4-BE49-F238E27FC236}">
                <a16:creationId xmlns:a16="http://schemas.microsoft.com/office/drawing/2014/main" id="{C890BA54-73BB-E97C-9EEE-1C5B3E12D07D}"/>
              </a:ext>
            </a:extLst>
          </p:cNvPr>
          <p:cNvSpPr txBox="1"/>
          <p:nvPr/>
        </p:nvSpPr>
        <p:spPr>
          <a:xfrm>
            <a:off x="8627554" y="3829050"/>
            <a:ext cx="2857500" cy="13849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E2E8F0"/>
                </a:solidFill>
                <a:latin typeface="DM Sans"/>
                <a:ea typeface="DM Sans"/>
                <a:cs typeface="DM Sans"/>
                <a:sym typeface="DM Sans"/>
              </a:rPr>
              <a:t>The optimal configurations for Adam, </a:t>
            </a:r>
            <a:r>
              <a:rPr lang="en-US" sz="1200" b="0" i="0" u="none" strike="noStrike" cap="none" dirty="0" err="1">
                <a:solidFill>
                  <a:srgbClr val="E2E8F0"/>
                </a:solidFill>
                <a:latin typeface="DM Sans"/>
                <a:ea typeface="DM Sans"/>
                <a:cs typeface="DM Sans"/>
                <a:sym typeface="DM Sans"/>
              </a:rPr>
              <a:t>AdamW</a:t>
            </a:r>
            <a:r>
              <a:rPr lang="en-US" sz="1200" b="0" i="0" u="none" strike="noStrike" cap="none" dirty="0">
                <a:solidFill>
                  <a:srgbClr val="E2E8F0"/>
                </a:solidFill>
                <a:latin typeface="DM Sans"/>
                <a:ea typeface="DM Sans"/>
                <a:cs typeface="DM Sans"/>
                <a:sym typeface="DM Sans"/>
              </a:rPr>
              <a:t>, and RMSprop executed a final 20-epoch training cycle against the entirely withheld KMNIST test dataset to synthesize final performance.</a:t>
            </a:r>
            <a:endParaRPr sz="1600" dirty="0"/>
          </a:p>
        </p:txBody>
      </p:sp>
      <p:pic>
        <p:nvPicPr>
          <p:cNvPr id="34" name="Google Shape;109;p14" descr="image.png">
            <a:extLst>
              <a:ext uri="{FF2B5EF4-FFF2-40B4-BE49-F238E27FC236}">
                <a16:creationId xmlns:a16="http://schemas.microsoft.com/office/drawing/2014/main" id="{07E4F633-E103-74DF-9C50-4A5BF887327D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400109" y="2457450"/>
            <a:ext cx="466725" cy="533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5" name="Google Shape;110;p14" descr="image.png">
            <a:extLst>
              <a:ext uri="{FF2B5EF4-FFF2-40B4-BE49-F238E27FC236}">
                <a16:creationId xmlns:a16="http://schemas.microsoft.com/office/drawing/2014/main" id="{6F84459F-78C1-4835-054F-614505624EE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176772" y="2457450"/>
            <a:ext cx="533400" cy="533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6" name="Google Shape;111;p14" descr="image.png">
            <a:extLst>
              <a:ext uri="{FF2B5EF4-FFF2-40B4-BE49-F238E27FC236}">
                <a16:creationId xmlns:a16="http://schemas.microsoft.com/office/drawing/2014/main" id="{4B1D595E-1F6E-D8B4-D19A-4E6D43411DCE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986772" y="2457450"/>
            <a:ext cx="533400" cy="5334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8177576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471610-8135-452B-7329-45845B227E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3FFB56-CC09-E264-7779-B28BF4E041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52896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7705B1-C463-054E-8429-BD4A7B419E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Interpretation &amp; Discussion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42A3CE-0D11-5335-8C0A-EE11A2A2E2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43638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9F9636-CCA1-BB83-C04D-21A3B9DE4D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20016E-DDD4-A19E-076E-8BB3344CD1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04260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C7A964-4E2A-6126-DF8E-7BD45E0102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630E8E-D06C-ADE7-9F42-AC79E9281E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10646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E7D5AD-EF12-3820-167E-7022D2CFC4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372BB8-3739-5D14-1FA9-4B2D522D6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3741600"/>
      </p:ext>
    </p:extLst>
  </p:cSld>
  <p:clrMapOvr>
    <a:masterClrMapping/>
  </p:clrMapOvr>
</p:sld>
</file>

<file path=ppt/theme/theme1.xml><?xml version="1.0" encoding="utf-8"?>
<a:theme xmlns:a="http://schemas.openxmlformats.org/drawingml/2006/main" name="Wisp">
  <a:themeElements>
    <a:clrScheme name="Wisp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21</TotalTime>
  <Words>218</Words>
  <Application>Microsoft Office PowerPoint</Application>
  <PresentationFormat>Widescreen</PresentationFormat>
  <Paragraphs>29</Paragraphs>
  <Slides>12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12</vt:i4>
      </vt:variant>
    </vt:vector>
  </HeadingPairs>
  <TitlesOfParts>
    <vt:vector size="18" baseType="lpstr">
      <vt:lpstr>Arial</vt:lpstr>
      <vt:lpstr>Century Gothic</vt:lpstr>
      <vt:lpstr>DM Sans</vt:lpstr>
      <vt:lpstr>Merriweather</vt:lpstr>
      <vt:lpstr>Wingdings 3</vt:lpstr>
      <vt:lpstr>Wisp</vt:lpstr>
      <vt:lpstr>A Tale of Three Optimizers</vt:lpstr>
      <vt:lpstr>Introduction</vt:lpstr>
      <vt:lpstr>Dataset</vt:lpstr>
      <vt:lpstr>Model Architecture</vt:lpstr>
      <vt:lpstr>Optimizers</vt:lpstr>
      <vt:lpstr>Methodology Strategy &amp; Validation Protocol</vt:lpstr>
      <vt:lpstr>Methodology Execution &amp; Training Pipeline</vt:lpstr>
      <vt:lpstr>Results</vt:lpstr>
      <vt:lpstr>Interpretation &amp; Discussion</vt:lpstr>
      <vt:lpstr>Conclusion</vt:lpstr>
      <vt:lpstr>References</vt:lpstr>
      <vt:lpstr>Questions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Yao-Fu Yang</dc:creator>
  <cp:lastModifiedBy>Thiago Segantini Nogueira</cp:lastModifiedBy>
  <cp:revision>2</cp:revision>
  <dcterms:created xsi:type="dcterms:W3CDTF">2026-06-21T00:23:36Z</dcterms:created>
  <dcterms:modified xsi:type="dcterms:W3CDTF">2026-06-22T02:29:06Z</dcterms:modified>
</cp:coreProperties>
</file>